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>
              <a:defRPr b="1" sz="2400">
                <a:solidFill>
                  <a:srgbClr val="0F2042"/>
                </a:solidFill>
              </a:defRPr>
            </a:pPr>
            <a:r>
              <a:t>SMART INDIA HACKATHON 2026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9" name="Picture 8" descr="page_1_img_1_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9728"/>
            <a:ext cx="2194560" cy="960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1417320"/>
            <a:ext cx="67665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28600" rIns="256032"/>
          <a:lstStyle/>
          <a:p>
            <a:pPr algn="ctr"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Problem Statement ID: SIH26182</a:t>
            </a:r>
          </a:p>
          <a:p>
            <a:pPr>
              <a:defRPr b="1" sz="1100">
                <a:solidFill>
                  <a:srgbClr val="334155"/>
                </a:solidFill>
              </a:defRPr>
            </a:pPr>
            <a:r>
              <a:t>Problem Statement Title:</a:t>
            </a:r>
          </a:p>
          <a:p>
            <a:pPr>
              <a:spcAft>
                <a:spcPts val="1400"/>
              </a:spcAft>
              <a:defRPr b="1" sz="1300">
                <a:solidFill>
                  <a:srgbClr val="0F2042"/>
                </a:solidFill>
              </a:defRPr>
            </a:pPr>
            <a:r>
              <a:t>Automated Attribution of Unknown Cryptocurrency Wallets to Nearest Virtual Asset Service Providers (VASPs) through Blockchain Intelligence APIs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Theme: </a:t>
            </a:r>
            <a:r>
              <a:rPr b="0" sz="1200">
                <a:solidFill>
                  <a:srgbClr val="0F2042"/>
                </a:solidFill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PS Category: </a:t>
            </a:r>
            <a:r>
              <a:rPr b="0" sz="1200">
                <a:solidFill>
                  <a:srgbClr val="0F2042"/>
                </a:solidFill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Team ID: </a:t>
            </a:r>
            <a:r>
              <a:rPr b="0" sz="1200">
                <a:solidFill>
                  <a:srgbClr val="0F2042"/>
                </a:solidFill>
              </a:rPr>
              <a:t>To be finalized on SIH Portal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Team Name (Registered): </a:t>
            </a:r>
            <a:r>
              <a:rPr b="1" sz="1200">
                <a:solidFill>
                  <a:srgbClr val="0F2042"/>
                </a:solidFill>
              </a:rPr>
              <a:t>CodeMesh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Project / Solution: </a:t>
            </a:r>
            <a:r>
              <a:rPr b="1" sz="1350">
                <a:solidFill>
                  <a:srgbClr val="2563EB"/>
                </a:solidFill>
              </a:rPr>
              <a:t>CryptoGuard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417320"/>
            <a:ext cx="4114800" cy="46634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1000"/>
              </a:spcAft>
              <a:defRPr b="1" sz="1300">
                <a:solidFill>
                  <a:srgbClr val="0F2042"/>
                </a:solidFill>
              </a:defRPr>
            </a:pPr>
            <a:r>
              <a:t>CRYPTOGUARD AI — SOLUTION BRIEF</a:t>
            </a:r>
          </a:p>
          <a:p>
            <a:pPr>
              <a:spcAft>
                <a:spcPts val="1200"/>
              </a:spcAft>
              <a:defRPr sz="1050">
                <a:solidFill>
                  <a:srgbClr val="334155"/>
                </a:solidFill>
              </a:defRPr>
            </a:pPr>
            <a:r>
              <a:t>An automated, auditable blockchain investigation console empowering Indian Law Enforcement Agencies (LEAs) to trace illicit crypto flows and identify cashout exchanges.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Multi-Chain Tracing: </a:t>
            </a:r>
            <a:r>
              <a:rPr sz="950">
                <a:solidFill>
                  <a:srgbClr val="334155"/>
                </a:solidFill>
              </a:rPr>
              <a:t>Directed BFS graph walk across Ethereum, BSC, Polygon, Tron, and Bitcoin.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4-Factor VASP Scoring: </a:t>
            </a:r>
            <a:r>
              <a:rPr sz="950">
                <a:solidFill>
                  <a:srgbClr val="334155"/>
                </a:solidFill>
              </a:rPr>
              <a:t>Proximity (40%), Volume (30%), Recency (20%), and Registry Trust (10%).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10-Signal AML Engine: </a:t>
            </a:r>
            <a:r>
              <a:rPr sz="950">
                <a:solidFill>
                  <a:srgbClr val="334155"/>
                </a:solidFill>
              </a:rPr>
              <a:t>Sanctions, mixers, peel chains, rapid exit, and structuring heuristics.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Legal Workflow Integration: </a:t>
            </a:r>
            <a:r>
              <a:rPr sz="950">
                <a:solidFill>
                  <a:srgbClr val="334155"/>
                </a:solidFill>
              </a:rPr>
              <a:t>Automated Section 91 CrPC requisition notices &amp; court-admissible PDF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IDEA TITLE: CryptoGuard AI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4864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1. BLOCKCHAIN INVESTIGATION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Multi-chain: Ethereum, BSC, Polygon, Tron, Bitcoin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Directed Breadth-First Search (BFS) multi-hop tracing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Interactive Vis.js force-directed transaction graph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Node Inspector with real-time inflow/outflow metrics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33756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2. VASP ATTRIBUTION ENGINE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Curated FIU-IND registered &amp; global VASP registry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4-Factor: Proximity 40%, Volume 30%, Recency 20%, Trust 10%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Strict evidence rule: interacts_with vs controlled_by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Full hop-walk explanation from suspect to deposit node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12648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3. RISK &amp; FORENSIC INTEL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10-Signal weighted AML risk engine (0–100 score)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Active typologies: Peel chains, Mixer hops, Rapid exit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Behavioral archetypes: Exchange, Mule, Scam, Stash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Forensic Copilot: Rule engine + optional LLM integration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891540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4. INVESTIGATION &amp; RESPONSE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Evidence Locker with SHA-256 integrity hash tracking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Reconstructed multi-chain chronological timeline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1-Click statutory Section 91 CrPC notice generator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ReportLab court-ready PDF &amp; SAHYOG-ready workflow</a:t>
            </a:r>
          </a:p>
        </p:txBody>
      </p:sp>
      <p:pic>
        <p:nvPicPr>
          <p:cNvPr id="15366" name="Picture 15365" descr="cryptoguard_screenshot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64992"/>
            <a:ext cx="5349240" cy="2240280"/>
          </a:xfrm>
          <a:prstGeom prst="rect">
            <a:avLst/>
          </a:prstGeom>
        </p:spPr>
      </p:pic>
      <p:sp>
        <p:nvSpPr>
          <p:cNvPr id="15367" name="Rounded Rectangle 15366"/>
          <p:cNvSpPr/>
          <p:nvPr/>
        </p:nvSpPr>
        <p:spPr>
          <a:xfrm>
            <a:off x="548640" y="5632704"/>
            <a:ext cx="53492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1E3A8A"/>
                </a:solidFill>
              </a:defRPr>
            </a:pPr>
            <a:r>
              <a:t>DEMO MODE: Interactive Vis.js Multi-Hop Transaction Graph (12 Nodes, Mule Peeling, VASP Hops)</a:t>
            </a:r>
          </a:p>
        </p:txBody>
      </p:sp>
      <p:pic>
        <p:nvPicPr>
          <p:cNvPr id="15368" name="Picture 15367" descr="cryptoguard_screenshot_vas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364992"/>
            <a:ext cx="5349240" cy="2240280"/>
          </a:xfrm>
          <a:prstGeom prst="rect">
            <a:avLst/>
          </a:prstGeom>
        </p:spPr>
      </p:pic>
      <p:sp>
        <p:nvSpPr>
          <p:cNvPr id="15369" name="Rounded Rectangle 15368"/>
          <p:cNvSpPr/>
          <p:nvPr/>
        </p:nvSpPr>
        <p:spPr>
          <a:xfrm>
            <a:off x="6172200" y="5632704"/>
            <a:ext cx="5349240" cy="2560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047857"/>
                </a:solidFill>
              </a:defRPr>
            </a:pPr>
            <a:r>
              <a:t>DEMO MODE: VASP Attribution Console (CoinDCX 84.5% FIU-IND, Binance 73.8%, Kraken 58.2%)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548640" y="5925312"/>
            <a:ext cx="109728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2563EB"/>
                </a:solidFill>
              </a:defRPr>
            </a:pPr>
            <a:r>
              <a:t>FLOW: UNKNOWN WALLET -&gt; BLOCKCHAIN ADAPTERS -&gt; MULTI-HOP GRAPH -&gt; WALLET INTEL -&gt; VASP ATTRIBUTION -&gt; RISK SCORING -&gt; EVIDENCE +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TECHNICAL APPROACH: CryptoGuard AI Forensic Pipeline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6903720" cy="5074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END-TO-END INVESTIGATION WORKFLOW &amp; METHODOLOGY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1. TARGET INPUT: </a:t>
            </a:r>
            <a:r>
              <a:rPr sz="880">
                <a:solidFill>
                  <a:srgbClr val="334155"/>
                </a:solidFill>
              </a:rPr>
              <a:t>Investigator inputs suspect address, selects chain (ETH, BSC, Polygon, Tron, BTC), and sets max hops (1–6).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2. BLOCKCHAIN ADAPTERS: </a:t>
            </a:r>
            <a:r>
              <a:rPr sz="880">
                <a:solidFill>
                  <a:srgbClr val="334155"/>
                </a:solidFill>
              </a:rPr>
              <a:t>Modular REST clients (Etherscan v2, TronGrid, Blockstream) fetch raw on-chain transaction records.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3. TRANSACTION NORMALIZATION: </a:t>
            </a:r>
            <a:r>
              <a:rPr sz="880">
                <a:solidFill>
                  <a:srgbClr val="334155"/>
                </a:solidFill>
              </a:rPr>
              <a:t>Address checksum validation, wei/satoshi conversion, ERC-20 parsing, and chronological indexing.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4. GRAPH ANALYSIS (BFS): </a:t>
            </a:r>
            <a:r>
              <a:rPr sz="880">
                <a:solidFill>
                  <a:srgbClr val="334155"/>
                </a:solidFill>
              </a:rPr>
              <a:t>Directed Breadth-First Search builds multi-hop fund flow graph; pruned cycles rendered via Vis.js.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5. VASP ATTRIBUTION ENGINE: </a:t>
            </a:r>
            <a:r>
              <a:rPr sz="880">
                <a:solidFill>
                  <a:srgbClr val="334155"/>
                </a:solidFill>
              </a:rPr>
              <a:t>4-Factor scoring (Proximity 40%, Volume 30%, Recency 20%, Provenance 10%) identifies nearest VASP.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6. RISK &amp; AML ENGINE: </a:t>
            </a:r>
            <a:r>
              <a:rPr sz="880">
                <a:solidFill>
                  <a:srgbClr val="334155"/>
                </a:solidFill>
              </a:rPr>
              <a:t>10-Signal explainable risk calculation (OFAC sanctions, mixers, peel chains, structuring) outputs 0–100 score.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7. FORENSIC WORKSPACE: </a:t>
            </a:r>
            <a:r>
              <a:rPr sz="880">
                <a:solidFill>
                  <a:srgbClr val="334155"/>
                </a:solidFill>
              </a:rPr>
              <a:t>Reconstructs chronological timeline, SHA-256 evidence locker, behavioral classification, &amp; Node Inspector.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8. RESPONSE &amp; LEGAL EXPORT: </a:t>
            </a:r>
            <a:r>
              <a:rPr sz="880">
                <a:solidFill>
                  <a:srgbClr val="334155"/>
                </a:solidFill>
              </a:rPr>
              <a:t>Automated Section 91 CrPC requisition notice generation, ReportLab PDF report, &amp; SAHYOG-ready stub.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7635240" y="1051560"/>
            <a:ext cx="3977639" cy="32918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600"/>
              </a:spcAft>
              <a:defRPr b="1" sz="1100">
                <a:solidFill>
                  <a:srgbClr val="0F2042"/>
                </a:solidFill>
              </a:defRPr>
            </a:pPr>
            <a:r>
              <a:t>TECHNOLOGY STACK ARCHITECTURE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Frontend: </a:t>
            </a:r>
            <a:r>
              <a:rPr sz="850">
                <a:solidFill>
                  <a:srgbClr val="334155"/>
                </a:solidFill>
              </a:rPr>
              <a:t>Vanilla HTML5, CSS3, ES6 JavaScript (Zero CDN / 100% offline)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Graph Visualization: </a:t>
            </a:r>
            <a:r>
              <a:rPr sz="850">
                <a:solidFill>
                  <a:srgbClr val="334155"/>
                </a:solidFill>
              </a:rPr>
              <a:t>Vis-network v9.1.2 (Bundled force-directed physics engine)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Backend Framework: </a:t>
            </a:r>
            <a:r>
              <a:rPr sz="850">
                <a:solidFill>
                  <a:srgbClr val="334155"/>
                </a:solidFill>
              </a:rPr>
              <a:t>Python 3.10+ / FastAPI v0.141 on Starlette &amp; Uvicorn ASGI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Forensic Database: </a:t>
            </a:r>
            <a:r>
              <a:rPr sz="850">
                <a:solidFill>
                  <a:srgbClr val="334155"/>
                </a:solidFill>
              </a:rPr>
              <a:t>SQLite3 persistent store (cryptoguard.db, 7 indexed tables)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Blockchain APIs: </a:t>
            </a:r>
            <a:r>
              <a:rPr sz="850">
                <a:solidFill>
                  <a:srgbClr val="334155"/>
                </a:solidFill>
              </a:rPr>
              <a:t>Etherscan v2 API, TronGrid REST, Blockstream Bitcoin REST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Investigation Copilot: </a:t>
            </a:r>
            <a:r>
              <a:rPr sz="850">
                <a:solidFill>
                  <a:srgbClr val="334155"/>
                </a:solidFill>
              </a:rPr>
              <a:t>Explainable Rule-Based Engine + Optional LLM Integration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Report Generation: </a:t>
            </a:r>
            <a:r>
              <a:rPr sz="850">
                <a:solidFill>
                  <a:srgbClr val="334155"/>
                </a:solidFill>
              </a:rPr>
              <a:t>ReportLab v5.0 Binary PDF Engine with SHA-256 verification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635240" y="4480560"/>
            <a:ext cx="3977639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500"/>
              </a:spcAft>
              <a:defRPr b="1" sz="1050">
                <a:solidFill>
                  <a:srgbClr val="0F2042"/>
                </a:solidFill>
              </a:defRPr>
            </a:pPr>
            <a:r>
              <a:t>OFFICIAL LINKS &amp; DELIVERABLES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GITHUB LINK: </a:t>
            </a:r>
            <a:r>
              <a:rPr sz="850">
                <a:solidFill>
                  <a:srgbClr val="2563EB"/>
                </a:solidFill>
              </a:rPr>
              <a:t>https://github.com/aryan311007w-ux/SIH-codeMesh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WEBSITE LINK: </a:t>
            </a:r>
            <a:r>
              <a:rPr sz="850">
                <a:solidFill>
                  <a:srgbClr val="2563EB"/>
                </a:solidFill>
              </a:rPr>
              <a:t>https://tubes-intersection-judicial-weapon.trycloudflare.com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850">
                <a:solidFill>
                  <a:srgbClr val="64748B"/>
                </a:solidFill>
              </a:rPr>
              <a:t>To be updated after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FEASIBILITY AND VIABILITY: Problem, Solution &amp; Scalability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B91C1C"/>
                </a:solidFill>
              </a:defRPr>
            </a:pPr>
            <a:r>
              <a:t>OPERATIONAL CHALLENGES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Rapid Fund Dissipation: Stolen crypto structured &amp; layered across peel chains in minutes.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Multi-Hop Graph Complexity: Obfuscation through multiple intermediate mule accounts.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Cross-Chain Fragmentation: Criminals hopping across Ethereum, Tron, BSC, Polygon, Bitcoin.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Attribution Uncertainty: Unreliable clustering without verified VASP registries or legal distinction.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Opaque Black-Box Forensics: Defense challenges in court against unexplainable proprietary scores.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Manual Paperwork Overhead: Hours spent compiling Section 91 CrPC notices and chain of custody.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1E3A8A"/>
                </a:solidFill>
              </a:defRPr>
            </a:pPr>
            <a:r>
              <a:t>CRYPTOGUARD AI SOLUTION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Automated BFS Traversal: Traces complex multi-hop fund flows in sub-second graph walks.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Transparent 4-Factor Scoring: Mathematical confidence (Proximity, Interaction, Recency, Provenance).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Unified Multi-Chain Schema: Standardized investigation across 5 major blockchain ecosystems.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Explainable Evidence: Strict legal separation of on-chain hops from behavioral heuristics.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Instant Statutory Requisitions: 1-Click Section 91 CrPC notices populated with VASP nodals.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Tamper-Evident Reporting: ReportLab generated PDF with cryptographic SHA-256 evidence logs.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047857"/>
                </a:solidFill>
              </a:defRPr>
            </a:pPr>
            <a:r>
              <a:t>FEASIBILITY &amp; SCALABILITY PILLARS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Technical Feasibility: </a:t>
            </a:r>
            <a:r>
              <a:rPr sz="850">
                <a:solidFill>
                  <a:srgbClr val="334155"/>
                </a:solidFill>
              </a:rPr>
              <a:t>Lightweight Python/FastAPI + Vis.js stack; deterministic execution with zero heavy GPU overhead.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Practical Implementability: </a:t>
            </a:r>
            <a:r>
              <a:rPr sz="850">
                <a:solidFill>
                  <a:srgbClr val="334155"/>
                </a:solidFill>
              </a:rPr>
              <a:t>Repeatable workflow; built-in high-fidelity Demo Mode for offline evaluation; zero compilation.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Sustainable Impact: </a:t>
            </a:r>
            <a:r>
              <a:rPr sz="850">
                <a:solidFill>
                  <a:srgbClr val="334155"/>
                </a:solidFill>
              </a:rPr>
              <a:t>Aligned with FIU-IND reporting guidelines, PMLA 2002, and LEA standard operating procedures.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Scalability by Design: </a:t>
            </a:r>
            <a:r>
              <a:rPr sz="850">
                <a:solidFill>
                  <a:srgbClr val="334155"/>
                </a:solidFill>
              </a:rPr>
              <a:t>Current MVP can evolve toward PostgreSQL, production blockchain APIs, institutional authentication, &amp; live government portals.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983480"/>
            <a:ext cx="109270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>
              <a:spcAft>
                <a:spcPts val="200"/>
              </a:spcAft>
              <a:defRPr b="1" sz="1000">
                <a:solidFill>
                  <a:srgbClr val="B45309"/>
                </a:solidFill>
              </a:defRPr>
            </a:pPr>
            <a:r>
              <a:t>RISK IDENTIFICATION &amp; MITIGATION STRATEGY</a:t>
            </a:r>
          </a:p>
          <a:p>
            <a:pPr>
              <a:defRPr sz="880">
                <a:solidFill>
                  <a:srgbClr val="334155"/>
                </a:solidFill>
              </a:defRPr>
            </a:pPr>
            <a:r>
              <a:t>• API Rate Limits: Handled via deterministic demo fixture fallback &amp; key rotation  |  • Blockchain Data Quality: Addressed via volume thresholds &amp; node deduplication  |  • Attribution Uncertainty: Explicitly separated into interacts_with vs controlled_by  |  • Institutional Hardening: Architecture ready for JWT auth &amp; role-based access control (RBAC).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IMPACT AND BENEFITS: Stakeholder Value &amp; Long-Term 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LAW ENFORCEMENT &amp; INVESTIGATORS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Accelerates preliminary tracing from days to minutes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Unified multi-chain graph eliminates portal switching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Structured evidence locker maintains chain of custody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Repeatable, reproducible forensic investigation workflow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33756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CYBERCRIME CELLS &amp; PROSECUTION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Automated statutory Section 91 CrPC notice drafting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Transparent mathematical scores defensible in court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Court-admissible PDF reports with cryptographic hashes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Response-ready workflow aligned with national SOPs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2648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VASPS &amp; COMPLIANCE OFFICERS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Requisitions contain exact hop paths, tx hashes, &amp; times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Direct identification of deposit aggregators cuts delays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Fulfills Prevention of Money Laundering Act obligations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Streamlines communication with FIU-IND registered entities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91540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FINANCIAL &amp; LEGAL ECOSYSTEM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Lowers friction for recovering stolen proceeds of crime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Establishes a transparent benchmark for crypto attribution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Multi-chain extensible architecture adaptable to new tokens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Open, auditable codebase fostering institutional trust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3291840"/>
            <a:ext cx="10927080" cy="28346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/>
          <a:lstStyle/>
          <a:p>
            <a:pPr algn="ctr">
              <a:spcAft>
                <a:spcPts val="500"/>
              </a:spcAft>
              <a:defRPr b="1" sz="1100">
                <a:solidFill>
                  <a:srgbClr val="0F2042"/>
                </a:solidFill>
              </a:defRPr>
            </a:pPr>
            <a:r>
              <a:t>LONG-TERM SYSTEMIC EFFECTS ON NATIONAL BLOCKCHAIN FORENSICS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132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1. Accelerated Asset Freezing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Minimizes the critical time window before illicit funds are cashed out to fiat through domestic exchanges.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3708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2. Standardized Digital Requisitions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Replaces fragmented informal queries with statutory Section 91 CrPC notices containing full evidentiary trails.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0284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3. Cross-Chain Investigative Parity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Empowers investigators to track assets across EVM, Tron, and Bitcoin inside a single consolidated workspace.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7132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4. Institutional Evidentiary Memory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 storage guarantees repeatable, verifiable re-analysis and audit trails for cold cyber cases.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3708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5. Low-Cost Station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Zero heavy ML dependency allows rapid deployment across district cybercrime police stations without server clusters.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80284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6. National Integration-Ready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Native data schemas aligned with the Indian Cybercrime Coordination Centre (I4C) and SAHYOG portal.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RESEARCH AND REFERENCES: Regulatory, Protocol &amp; Academic Foundations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STATUTORY &amp; REGULATORY FRAMEWORKS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FATF Virtual Assets Guidance (2021/2023): </a:t>
            </a:r>
            <a:r>
              <a:rPr sz="830">
                <a:solidFill>
                  <a:srgbClr val="334155"/>
                </a:solidFill>
              </a:rPr>
              <a:t>Financial Action Task Force, Updated Guidance for a Risk-Based Approach to Virtual Assets and VASPs, Recommendation 15 &amp; 16 (Travel Rule).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FIU-IND AML/CFT Guidelines (2023): </a:t>
            </a:r>
            <a:r>
              <a:rPr sz="830">
                <a:solidFill>
                  <a:srgbClr val="334155"/>
                </a:solidFill>
              </a:rPr>
              <a:t>Financial Intelligence Unit - India, Anti-Money Laundering &amp; Countering Financing of Terrorism Guidelines for Virtual Digital Asset Service Providers (PMLA compliance).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Section 91 CrPC / Section 94 BNSS: </a:t>
            </a:r>
            <a:r>
              <a:rPr sz="830">
                <a:solidFill>
                  <a:srgbClr val="334155"/>
                </a:solidFill>
              </a:rPr>
              <a:t>Code of Criminal Procedure, 1973 (Section 91) &amp; Bharatiya Nagarik Suraksha Sanhita, 2023 (Section 94) — Legal summons for digital evidence.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Prevention of Money Laundering Act (2002): </a:t>
            </a:r>
            <a:r>
              <a:rPr sz="830">
                <a:solidFill>
                  <a:srgbClr val="334155"/>
                </a:solidFill>
              </a:rPr>
              <a:t>PMLA 2002 Section 12 — Maintenance of records, identification of clients, &amp; furnished information by crypto Reporting Entities.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BLOCKCHAIN APIS &amp; FORENSIC PROTOCOLS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Etherscan V2 API Developer Protocol: </a:t>
            </a:r>
            <a:r>
              <a:rPr sz="830">
                <a:solidFill>
                  <a:srgbClr val="334155"/>
                </a:solidFill>
              </a:rPr>
              <a:t>Etherscan API documentation for EVM chains (Ethereum, BSC, Polygon) account transaction tracing, token events, &amp; internal transfers (docs.etherscan.io).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TronGrid Protocol Specification: </a:t>
            </a:r>
            <a:r>
              <a:rPr sz="830">
                <a:solidFill>
                  <a:srgbClr val="334155"/>
                </a:solidFill>
              </a:rPr>
              <a:t>Tron Network TronGrid REST API for TRC-20 token tracking and account transaction history (developers.tron.network).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Blockstream Bitcoin REST API: </a:t>
            </a:r>
            <a:r>
              <a:rPr sz="830">
                <a:solidFill>
                  <a:srgbClr val="334155"/>
                </a:solidFill>
              </a:rPr>
              <a:t>Blockstream.info public Bitcoin explorer and UTXO graph query API specification (blockstream.info/api).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Vis.js Network Force-Directed Graph Engine: </a:t>
            </a:r>
            <a:r>
              <a:rPr sz="830">
                <a:solidFill>
                  <a:srgbClr val="334155"/>
                </a:solidFill>
              </a:rPr>
              <a:t>Vis.js open-source visualization library for force-directed physical graph rendering and dynamic node physics (visjs.github.io).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FORENSIC HEURISTICS &amp; RESEARCH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Meiklejohn et al., ACM IMC (2013): </a:t>
            </a:r>
            <a:r>
              <a:rPr sz="830">
                <a:solidFill>
                  <a:srgbClr val="334155"/>
                </a:solidFill>
              </a:rPr>
              <a:t>A Fistful of Bitcoins: Characterizing Payments Among Men with No Names. Foundational paper on multi-input heuristic clustering &amp; change address detection.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Friedhelm Victor, Springer (2020): </a:t>
            </a:r>
            <a:r>
              <a:rPr sz="830">
                <a:solidFill>
                  <a:srgbClr val="334155"/>
                </a:solidFill>
              </a:rPr>
              <a:t>Address Clustering Heuristics for Ethereum. Financial Cryptography &amp; Data Security. Heuristic rules for deposit address identification &amp; exchange attribution.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OFAC SDN Sanctioned Entity Lists: </a:t>
            </a:r>
            <a:r>
              <a:rPr sz="830">
                <a:solidFill>
                  <a:srgbClr val="334155"/>
                </a:solidFill>
              </a:rPr>
              <a:t>U.S. Department of the Treasury, Specially Designated Nationals (SDN) cryptocurrency address blacklist &amp; Tornado Cash sanctioned smart contracts.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UNODC Cybercrime Typology Manual: </a:t>
            </a:r>
            <a:r>
              <a:rPr sz="830">
                <a:solidFill>
                  <a:srgbClr val="334155"/>
                </a:solidFill>
              </a:rPr>
              <a:t>United Nations Office on Drugs and Crime, Cryptocurrency Laundering Typologies: Peel Chains, Structuring, and Nested Exchange Services.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5074920"/>
            <a:ext cx="1092708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/>
          <a:lstStyle/>
          <a:p>
            <a:pPr algn="ctr">
              <a:spcAft>
                <a:spcPts val="300"/>
              </a:spcAft>
              <a:defRPr b="1" sz="1000">
                <a:solidFill>
                  <a:srgbClr val="0F2042"/>
                </a:solidFill>
              </a:defRPr>
            </a:pPr>
            <a:r>
              <a:t>PROJECT REPOSITORY &amp; DEMONSTRATION ACCESS</a:t>
            </a:r>
          </a:p>
          <a:p>
            <a:r>
              <a:rPr b="1" sz="900">
                <a:solidFill>
                  <a:srgbClr val="334155"/>
                </a:solidFill>
              </a:rPr>
              <a:t>GitHub Repository: </a:t>
            </a:r>
            <a:r>
              <a:rPr b="1" sz="900">
                <a:solidFill>
                  <a:srgbClr val="2563EB"/>
                </a:solidFill>
              </a:rPr>
              <a:t>https://github.com/aryan311007w-ux/SIH-codeMesh  |  </a:t>
            </a:r>
            <a:r>
              <a:rPr b="1" sz="900">
                <a:solidFill>
                  <a:srgbClr val="334155"/>
                </a:solidFill>
              </a:rPr>
              <a:t>Website: </a:t>
            </a:r>
            <a:r>
              <a:rPr b="1" sz="900">
                <a:solidFill>
                  <a:srgbClr val="2563EB"/>
                </a:solidFill>
              </a:rPr>
              <a:t>https://tubes-intersection-judicial-weapon.trycloudflare.com  |  </a:t>
            </a: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900">
                <a:solidFill>
                  <a:srgbClr val="64748B"/>
                </a:solidFill>
              </a:rPr>
              <a:t>To be updated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