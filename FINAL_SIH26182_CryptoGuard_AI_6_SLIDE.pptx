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417320"/>
            <a:ext cx="67665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28600" rIns="256032"/>
          <a:lstStyle/>
          <a:p>
            <a:pPr algn="ctr">
              <a:spcAft>
                <a:spcPts val="8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10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400"/>
              </a:spcAft>
              <a:defRPr b="1" sz="130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Theme: </a:t>
            </a:r>
            <a:r>
              <a:rPr b="0" sz="120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PS Category: </a:t>
            </a:r>
            <a:r>
              <a:rPr b="0" sz="120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ID: </a:t>
            </a:r>
            <a:r>
              <a:rPr b="0" sz="120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Team Name (Registered): </a:t>
            </a:r>
            <a:r>
              <a:rPr b="1" sz="120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700"/>
              </a:spcAft>
            </a:pPr>
            <a:r>
              <a:rPr b="1" sz="1200">
                <a:solidFill>
                  <a:srgbClr val="334155"/>
                </a:solidFill>
              </a:rPr>
              <a:t>Project / Solution: </a:t>
            </a:r>
            <a:r>
              <a:rPr b="1" sz="1350">
                <a:solidFill>
                  <a:srgbClr val="2563EB"/>
                </a:solidFill>
              </a:rPr>
              <a:t>CryptoGuard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417320"/>
            <a:ext cx="4114800" cy="46634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1000"/>
              </a:spcAft>
              <a:defRPr b="1" sz="13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1200"/>
              </a:spcAft>
              <a:defRPr sz="1050">
                <a:solidFill>
                  <a:srgbClr val="334155"/>
                </a:solidFill>
              </a:defRPr>
            </a:pPr>
            <a:r>
              <a:t>An automated, auditable blockchain investigation console empowering Indian Law Enforcement Agencies (LEAs) to trace illicit crypto flows and identify cashout exchanges.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Multi-Chain Tracing: </a:t>
            </a:r>
            <a:r>
              <a:rPr sz="950">
                <a:solidFill>
                  <a:srgbClr val="334155"/>
                </a:solidFill>
              </a:rPr>
              <a:t>Directed BFS graph walk across Ethereum, BSC, Polygon, Tron, and Bitcoin.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4-Factor VASP Scoring: </a:t>
            </a:r>
            <a:r>
              <a:rPr sz="950">
                <a:solidFill>
                  <a:srgbClr val="334155"/>
                </a:solidFill>
              </a:rPr>
              <a:t>Proximity (40%), Volume (30%), Recency (20%), and Registry Trust (10%).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10-Signal AML Engine: </a:t>
            </a:r>
            <a:r>
              <a:rPr sz="950">
                <a:solidFill>
                  <a:srgbClr val="334155"/>
                </a:solidFill>
              </a:rPr>
              <a:t>Sanctions, mixers, peel chains, rapid exit, and structuring heuristics.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3A8A"/>
                </a:solidFill>
              </a:rPr>
              <a:t>• Legal Workflow Integration: </a:t>
            </a:r>
            <a:r>
              <a:rPr sz="950">
                <a:solidFill>
                  <a:srgbClr val="334155"/>
                </a:solidFill>
              </a:rPr>
              <a:t>Automated Section 91 CrPC requisition notices &amp; court-admissible PDF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1. BLOCKCHAIN INVESTIGATION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Multi-chain: Ethereum, BSC, Polygon, Tron, Bitcoin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Directed Breadth-First Search (BFS) multi-hop tracing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Interactive Vis.js force-directed transaction graph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Node Inspector with real-time inflow/outflow metrics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33756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2. VASP ATTRIBUTION ENGINE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Curated FIU-IND registered &amp; global VASP registry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4-Factor: Proximity 40%, Volume 30%, Recency 20%, Trust 10%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Strict evidence rule: interacts_with vs controlled_by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Full hop-walk explanation from suspect to deposit node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3. RISK &amp; FORENSIC INTEL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10-Signal weighted AML risk engine (0–100 score)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Active typologies: Peel chains, Mixer hops, Rapid exit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Behavioral archetypes: Exchange, Mule, Scam, Stash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Forensic Copilot: Rule engine + optional LLM integration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915400" y="1051560"/>
            <a:ext cx="260604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50">
                <a:solidFill>
                  <a:srgbClr val="1E3A8A"/>
                </a:solidFill>
              </a:defRPr>
            </a:pPr>
            <a:r>
              <a:t>4. INVESTIGATION &amp; RESPONSE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Evidence Locker with SHA-256 integrity hash tracking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Reconstructed multi-chain chronological timeline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1-Click statutory Section 91 CrPC notice generator</a:t>
            </a:r>
          </a:p>
          <a:p>
            <a:pPr>
              <a:spcAft>
                <a:spcPts val="250"/>
              </a:spcAft>
              <a:defRPr sz="900">
                <a:solidFill>
                  <a:srgbClr val="334155"/>
                </a:solidFill>
              </a:defRPr>
            </a:pPr>
            <a:r>
              <a:t>• ReportLab court-ready PDF &amp; SAHYOG-ready workflow</a:t>
            </a:r>
          </a:p>
        </p:txBody>
      </p:sp>
      <p:pic>
        <p:nvPicPr>
          <p:cNvPr id="15366" name="Picture 15365" descr="cryptoguard_screensho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4992"/>
            <a:ext cx="5349240" cy="2240280"/>
          </a:xfrm>
          <a:prstGeom prst="rect">
            <a:avLst/>
          </a:prstGeom>
        </p:spPr>
      </p:pic>
      <p:sp>
        <p:nvSpPr>
          <p:cNvPr id="15367" name="Rounded Rectangle 15366"/>
          <p:cNvSpPr/>
          <p:nvPr/>
        </p:nvSpPr>
        <p:spPr>
          <a:xfrm>
            <a:off x="548640" y="5632704"/>
            <a:ext cx="53492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DEMO MODE: Interactive Vis.js Multi-Hop Transaction Graph (12 Nodes, Mule Peeling, VASP Hops)</a:t>
            </a:r>
          </a:p>
        </p:txBody>
      </p:sp>
      <p:pic>
        <p:nvPicPr>
          <p:cNvPr id="15368" name="Picture 15367" descr="cryptoguard_screenshot_vas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364992"/>
            <a:ext cx="5349240" cy="224028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6172200" y="5632704"/>
            <a:ext cx="534924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DEMO MODE: VASP Attribution Console (CoinDCX 84.5% FIU-IND, Binance 73.8%, Kraken 58.2%)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48640" y="5925312"/>
            <a:ext cx="10972800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FLOW: UNKNOWN WALLET -&gt; BLOCKCHAIN ADAPTERS -&gt; MULTI-HOP GRAPH -&gt; WALLET INTEL -&gt; VASP ATTRIBUTION -&gt; RISK SCORING -&gt; EVIDENCE +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CryptoGuard AI Forensic Pipeline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690372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END-TO-END INVESTIGATION WORKFLOW &amp; METHODOLOGY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1. TARGET INPUT: </a:t>
            </a:r>
            <a:r>
              <a:rPr sz="880">
                <a:solidFill>
                  <a:srgbClr val="334155"/>
                </a:solidFill>
              </a:rPr>
              <a:t>Investigator inputs suspect address, selects chain (ETH, BSC, Polygon, Tron, BTC), and sets max hops (1–6).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2. BLOCKCHAIN ADAPTERS: </a:t>
            </a:r>
            <a:r>
              <a:rPr sz="880">
                <a:solidFill>
                  <a:srgbClr val="334155"/>
                </a:solidFill>
              </a:rPr>
              <a:t>Modular REST clients (Etherscan v2, TronGrid, Blockstream) fetch raw on-chain transaction records.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3. TRANSACTION NORMALIZATION: </a:t>
            </a:r>
            <a:r>
              <a:rPr sz="880">
                <a:solidFill>
                  <a:srgbClr val="334155"/>
                </a:solidFill>
              </a:rPr>
              <a:t>Address checksum validation, wei/satoshi conversion, ERC-20 parsing, and chronological indexing.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4. GRAPH ANALYSIS (BFS): </a:t>
            </a:r>
            <a:r>
              <a:rPr sz="880">
                <a:solidFill>
                  <a:srgbClr val="334155"/>
                </a:solidFill>
              </a:rPr>
              <a:t>Directed Breadth-First Search builds multi-hop fund flow graph; pruned cycles rendered via Vis.js.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5. VASP ATTRIBUTION ENGINE: </a:t>
            </a:r>
            <a:r>
              <a:rPr sz="880">
                <a:solidFill>
                  <a:srgbClr val="334155"/>
                </a:solidFill>
              </a:rPr>
              <a:t>4-Factor scoring (Proximity 40%, Volume 30%, Recency 20%, Provenance 10%) identifies nearest VASP.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6. RISK &amp; AML ENGINE: </a:t>
            </a:r>
            <a:r>
              <a:rPr sz="880">
                <a:solidFill>
                  <a:srgbClr val="334155"/>
                </a:solidFill>
              </a:rPr>
              <a:t>10-Signal explainable risk calculation (OFAC sanctions, mixers, peel chains, structuring) outputs 0–100 score.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7. FORENSIC WORKSPACE: </a:t>
            </a:r>
            <a:r>
              <a:rPr sz="880">
                <a:solidFill>
                  <a:srgbClr val="334155"/>
                </a:solidFill>
              </a:rPr>
              <a:t>Reconstructs chronological timeline, SHA-256 evidence locker, behavioral classification, &amp; Node Inspector.</a:t>
            </a:r>
          </a:p>
          <a:p>
            <a:pPr>
              <a:spcAft>
                <a:spcPts val="450"/>
              </a:spcAft>
            </a:pPr>
            <a:r>
              <a:rPr b="1" sz="919">
                <a:solidFill>
                  <a:srgbClr val="2563EB"/>
                </a:solidFill>
              </a:rPr>
              <a:t>8. RESPONSE &amp; LEGAL EXPORT: </a:t>
            </a:r>
            <a:r>
              <a:rPr sz="880">
                <a:solidFill>
                  <a:srgbClr val="334155"/>
                </a:solidFill>
              </a:rPr>
              <a:t>Automated Section 91 CrPC requisition notice generation, ReportLab PDF report, &amp; SAHYOG-ready stub.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51560"/>
            <a:ext cx="3977639" cy="3291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600"/>
              </a:spcAft>
              <a:defRPr b="1" sz="1100">
                <a:solidFill>
                  <a:srgbClr val="0F2042"/>
                </a:solidFill>
              </a:defRPr>
            </a:pPr>
            <a:r>
              <a:t>TECHNOLOGY STACK ARCHITECTURE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Frontend: </a:t>
            </a:r>
            <a:r>
              <a:rPr sz="850">
                <a:solidFill>
                  <a:srgbClr val="334155"/>
                </a:solidFill>
              </a:rPr>
              <a:t>Vanilla HTML5, CSS3, ES6 JavaScript (Zero CDN / 100% offline)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Graph Visualization: </a:t>
            </a:r>
            <a:r>
              <a:rPr sz="850">
                <a:solidFill>
                  <a:srgbClr val="334155"/>
                </a:solidFill>
              </a:rPr>
              <a:t>Vis-network v9.1.2 (Bundled force-directed physics engine)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Backend Framework: </a:t>
            </a:r>
            <a:r>
              <a:rPr sz="850">
                <a:solidFill>
                  <a:srgbClr val="334155"/>
                </a:solidFill>
              </a:rPr>
              <a:t>Python 3.10+ / FastAPI v0.141 on Starlette &amp; Uvicorn ASGI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Forensic Database: </a:t>
            </a:r>
            <a:r>
              <a:rPr sz="850">
                <a:solidFill>
                  <a:srgbClr val="334155"/>
                </a:solidFill>
              </a:rPr>
              <a:t>SQLite3 persistent store (cryptoguard.db, 7 indexed tables)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Blockchain APIs: </a:t>
            </a:r>
            <a:r>
              <a:rPr sz="850">
                <a:solidFill>
                  <a:srgbClr val="334155"/>
                </a:solidFill>
              </a:rPr>
              <a:t>Etherscan v2 API, TronGrid REST, Blockstream Bitcoin REST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Investigation Copilot: </a:t>
            </a:r>
            <a:r>
              <a:rPr sz="850">
                <a:solidFill>
                  <a:srgbClr val="334155"/>
                </a:solidFill>
              </a:rPr>
              <a:t>Explainable Rule-Based Engine + Optional LLM Integration</a:t>
            </a:r>
          </a:p>
          <a:p>
            <a:pPr>
              <a:spcAft>
                <a:spcPts val="300"/>
              </a:spcAft>
            </a:pPr>
            <a:r>
              <a:rPr b="1" sz="900">
                <a:solidFill>
                  <a:srgbClr val="1E3A8A"/>
                </a:solidFill>
              </a:rPr>
              <a:t>• Report Generation: </a:t>
            </a:r>
            <a:r>
              <a:rPr sz="850">
                <a:solidFill>
                  <a:srgbClr val="334155"/>
                </a:solidFill>
              </a:rPr>
              <a:t>ReportLab v5.0 Binary PDF Engine with SHA-256 verification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635240" y="4480560"/>
            <a:ext cx="3977639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500"/>
              </a:spcAft>
              <a:defRPr b="1" sz="1050">
                <a:solidFill>
                  <a:srgbClr val="0F2042"/>
                </a:solidFill>
              </a:defRPr>
            </a:pPr>
            <a:r>
              <a:t>OFFICIAL LINKS &amp; DELIVERABLES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GITHUB LINK: </a:t>
            </a:r>
            <a:r>
              <a:rPr sz="850">
                <a:solidFill>
                  <a:srgbClr val="2563EB"/>
                </a:solidFill>
              </a:rPr>
              <a:t>https://github.com/aryan311007w-ux/SIH-codeMesh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WEBSITE LINK: </a:t>
            </a:r>
            <a:r>
              <a:rPr sz="850">
                <a:solidFill>
                  <a:srgbClr val="2563EB"/>
                </a:solidFill>
              </a:rPr>
              <a:t>https://cryptoguard-ai.onrender.com</a:t>
            </a:r>
          </a:p>
          <a:p>
            <a:pPr>
              <a:spcAft>
                <a:spcPts val="350"/>
              </a:spcAft>
            </a:pP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850">
                <a:solidFill>
                  <a:srgbClr val="64748B"/>
                </a:solidFill>
              </a:rPr>
              <a:t>To be updated after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Problem, Solution &amp; Scalability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Rapid Fund Dissipation: Stolen crypto structured &amp; layered across peel chains in minutes.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Multi-Hop Graph Complexity: Obfuscation through multiple intermediate mule accounts.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Cross-Chain Fragmentation: Criminals hopping across Ethereum, Tron, BSC, Polygon, Bitcoin.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Attribution Uncertainty: Unreliable clustering without verified VASP registries or legal distinction.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Opaque Black-Box Forensics: Defense challenges in court against unexplainable proprietary scores.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Manual Paperwork Overhead: Hours spent compiling Section 91 CrPC notices and chain of custody.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1E3A8A"/>
                </a:solidFill>
              </a:defRPr>
            </a:pPr>
            <a:r>
              <a:t>CRYPTOGUARD AI SOLUTION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Automated BFS Traversal: Traces complex multi-hop fund flows in sub-second graph walks.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Transparent 4-Factor Scoring: Mathematical confidence (Proximity, Interaction, Recency, Provenance).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Unified Multi-Chain Schema: Standardized investigation across 5 major blockchain ecosystems.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Explainable Evidence: Strict legal separation of on-chain hops from behavioral heuristics.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Instant Statutory Requisitions: 1-Click Section 91 CrPC notices populated with VASP nodals.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• Tamper-Evident Reporting: ReportLab generated PDF with cryptographic SHA-256 evidence logs.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794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100">
                <a:solidFill>
                  <a:srgbClr val="047857"/>
                </a:solidFill>
              </a:defRPr>
            </a:pPr>
            <a:r>
              <a:t>FEASIBILITY &amp; SCALABILITY PILLARS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Technical Feasibility: </a:t>
            </a:r>
            <a:r>
              <a:rPr sz="850">
                <a:solidFill>
                  <a:srgbClr val="334155"/>
                </a:solidFill>
              </a:rPr>
              <a:t>Lightweight Python/FastAPI + Vis.js stack; deterministic execution with zero heavy GPU overhead.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Practical Implementability: </a:t>
            </a:r>
            <a:r>
              <a:rPr sz="850">
                <a:solidFill>
                  <a:srgbClr val="334155"/>
                </a:solidFill>
              </a:rPr>
              <a:t>Repeatable workflow; built-in high-fidelity Demo Mode for offline evaluation; zero compilation.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Sustainable Impact: </a:t>
            </a:r>
            <a:r>
              <a:rPr sz="850">
                <a:solidFill>
                  <a:srgbClr val="334155"/>
                </a:solidFill>
              </a:rPr>
              <a:t>Aligned with FIU-IND reporting guidelines, PMLA 2002, and LEA standard operating procedures.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1E3A8A"/>
                </a:solidFill>
              </a:rPr>
              <a:t>• Scalability by Design: </a:t>
            </a:r>
            <a:r>
              <a:rPr sz="850">
                <a:solidFill>
                  <a:srgbClr val="334155"/>
                </a:solidFill>
              </a:rPr>
              <a:t>Current MVP can evolve toward PostgreSQL, production blockchain APIs, institutional authentication, &amp; live government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983480"/>
            <a:ext cx="109270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200"/>
              </a:spcAft>
              <a:defRPr b="1" sz="1000">
                <a:solidFill>
                  <a:srgbClr val="B45309"/>
                </a:solidFill>
              </a:defRPr>
            </a:pPr>
            <a:r>
              <a:t>RISK IDENTIFICATION &amp; MITIGATION STRATEGY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• API Rate Limits: Handled via deterministic demo fixture fallback &amp; key rotation  |  • Blockchain Data Quality: Addressed via volume thresholds &amp; node deduplication  |  • Attribution Uncertainty: Explicitly separated into interacts_with vs controlled_by  |  • Institutional Hardening: Architecture ready for JWT auth &amp; role-based access control (RBAC).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Long-Term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LAW ENFORCEMENT &amp; INVESTIGATORS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Accelerates preliminary tracing from days to minutes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multi-chain graph eliminates portal switching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Structured evidence locker maintains chain of custody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Repeatable, reproducible forensic investigation workflow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33756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CYBERCRIME CELLS &amp; PROSECUTION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statutory Section 91 CrPC notice drafting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mathematical scores defensible in court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Court-admissible PDF reports with cryptographic hashes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Response-ready workflow aligned with national SOPs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VASPS &amp; COMPLIANCE OFFICERS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Requisitions contain exact hop paths, tx hashes, &amp; times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delays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obligations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Streamlines communication with FIU-IND registered entities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915400" y="1051560"/>
            <a:ext cx="26060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FINANCIAL &amp; LEGAL ECOSYSTEM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Lowers friction for recovering stolen proceeds of crime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Establishes a transparent benchmark for crypto attribution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Multi-chain extensible architecture adaptable to new tokens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Open, auditable codebase fostering institutional trust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3291840"/>
            <a:ext cx="10927080" cy="28346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500"/>
              </a:spcAft>
              <a:defRPr b="1" sz="1100">
                <a:solidFill>
                  <a:srgbClr val="0F2042"/>
                </a:solidFill>
              </a:defRPr>
            </a:pPr>
            <a:r>
              <a:t>LONG-TERM SYSTEMIC EFFECTS ON NATIONAL BLOCKCHAIN FORENSICS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132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domestic exchanges.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3708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2. Standardized Digital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fragmented informal queries with statutory Section 91 CrPC notices containing full evidentiary trails.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28432" y="3749039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132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3708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028432" y="4864607"/>
            <a:ext cx="34290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30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30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30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30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30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30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30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30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886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09728" rIns="146304"/>
          <a:lstStyle/>
          <a:p>
            <a:pPr algn="ctr">
              <a:spcAft>
                <a:spcPts val="700"/>
              </a:spcAft>
              <a:defRPr b="1" sz="105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30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30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30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5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30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5074920"/>
            <a:ext cx="1092708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ctr">
              <a:spcAft>
                <a:spcPts val="300"/>
              </a:spcAft>
              <a:defRPr b="1" sz="1000">
                <a:solidFill>
                  <a:srgbClr val="0F2042"/>
                </a:solidFill>
              </a:defRPr>
            </a:pPr>
            <a:r>
              <a:t>PROJECT REPOSITORY &amp; DEMONSTRATION ACCESS</a:t>
            </a:r>
          </a:p>
          <a:p>
            <a:r>
              <a:rPr b="1" sz="900">
                <a:solidFill>
                  <a:srgbClr val="334155"/>
                </a:solidFill>
              </a:rPr>
              <a:t>GitHub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|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https://cryptoguard-ai.onrender.com  |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