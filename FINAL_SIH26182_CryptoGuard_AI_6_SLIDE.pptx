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pPr>
              <a:defRPr b="1" sz="2400">
                <a:solidFill>
                  <a:srgbClr val="0F2042"/>
                </a:solidFill>
              </a:defRPr>
            </a:pPr>
            <a:r>
              <a:t>SMART INDIA HACKATHON 2026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 descr="page_1_img_1_X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9728"/>
            <a:ext cx="2194560" cy="9601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48640" y="1417320"/>
            <a:ext cx="676656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28600" rIns="256032"/>
          <a:lstStyle/>
          <a:p>
            <a:pPr algn="ctr">
              <a:spcAft>
                <a:spcPts val="800"/>
              </a:spcAft>
              <a:defRPr b="1" sz="1500">
                <a:solidFill>
                  <a:srgbClr val="2563EB"/>
                </a:solidFill>
              </a:defRPr>
            </a:pPr>
            <a:r>
              <a:t>Problem Statement ID: SIH26182</a:t>
            </a:r>
          </a:p>
          <a:p>
            <a:pPr>
              <a:defRPr b="1" sz="1100">
                <a:solidFill>
                  <a:srgbClr val="334155"/>
                </a:solidFill>
              </a:defRPr>
            </a:pPr>
            <a:r>
              <a:t>Problem Statement Title:</a:t>
            </a:r>
          </a:p>
          <a:p>
            <a:pPr>
              <a:spcAft>
                <a:spcPts val="1400"/>
              </a:spcAft>
              <a:defRPr b="1" sz="1300">
                <a:solidFill>
                  <a:srgbClr val="0F2042"/>
                </a:solidFill>
              </a:defRPr>
            </a:pPr>
            <a:r>
              <a:t>Automated Attribution of Unknown Cryptocurrency Wallets to Nearest Virtual Asset Service Providers (VASPs) through Blockchain Intelligence APIs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334155"/>
                </a:solidFill>
              </a:rPr>
              <a:t>Theme: </a:t>
            </a:r>
            <a:r>
              <a:rPr b="0" sz="1200">
                <a:solidFill>
                  <a:srgbClr val="0F2042"/>
                </a:solidFill>
              </a:rPr>
              <a:t>Blockchain &amp; Cybersecurity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334155"/>
                </a:solidFill>
              </a:rPr>
              <a:t>PS Category: </a:t>
            </a:r>
            <a:r>
              <a:rPr b="0" sz="1200">
                <a:solidFill>
                  <a:srgbClr val="0F2042"/>
                </a:solidFill>
              </a:rPr>
              <a:t>Software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334155"/>
                </a:solidFill>
              </a:rPr>
              <a:t>Team ID: </a:t>
            </a:r>
            <a:r>
              <a:rPr b="0" sz="1200">
                <a:solidFill>
                  <a:srgbClr val="0F2042"/>
                </a:solidFill>
              </a:rPr>
              <a:t>To be finalized on SIH Portal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334155"/>
                </a:solidFill>
              </a:rPr>
              <a:t>Team Name (Registered): </a:t>
            </a:r>
            <a:r>
              <a:rPr b="1" sz="1200">
                <a:solidFill>
                  <a:srgbClr val="0F2042"/>
                </a:solidFill>
              </a:rPr>
              <a:t>CodeMesh</a:t>
            </a:r>
          </a:p>
          <a:p>
            <a:pPr>
              <a:spcAft>
                <a:spcPts val="700"/>
              </a:spcAft>
            </a:pPr>
            <a:r>
              <a:rPr b="1" sz="1200">
                <a:solidFill>
                  <a:srgbClr val="334155"/>
                </a:solidFill>
              </a:rPr>
              <a:t>Project / Solution: </a:t>
            </a:r>
            <a:r>
              <a:rPr b="1" sz="1350">
                <a:solidFill>
                  <a:srgbClr val="2563EB"/>
                </a:solidFill>
              </a:rPr>
              <a:t>CryptoGuard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417320"/>
            <a:ext cx="4114800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 rIns="228600"/>
          <a:lstStyle/>
          <a:p>
            <a:pPr algn="ctr">
              <a:spcAft>
                <a:spcPts val="1000"/>
              </a:spcAft>
              <a:defRPr b="1" sz="1300">
                <a:solidFill>
                  <a:srgbClr val="0F2042"/>
                </a:solidFill>
              </a:defRPr>
            </a:pPr>
            <a:r>
              <a:t>CRYPTOGUARD AI — SOLUTION BRIEF</a:t>
            </a:r>
          </a:p>
          <a:p>
            <a:pPr>
              <a:spcAft>
                <a:spcPts val="1200"/>
              </a:spcAft>
              <a:defRPr sz="1050">
                <a:solidFill>
                  <a:srgbClr val="334155"/>
                </a:solidFill>
              </a:defRPr>
            </a:pPr>
            <a:r>
              <a:t>An automated, auditable blockchain investigation console empowering Indian Law Enforcement Agencies (LEAs) to trace illicit crypto flows and identify cashout exchanges.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3A8A"/>
                </a:solidFill>
              </a:rPr>
              <a:t>• Multi-Chain Tracing: </a:t>
            </a:r>
            <a:r>
              <a:rPr sz="950">
                <a:solidFill>
                  <a:srgbClr val="334155"/>
                </a:solidFill>
              </a:rPr>
              <a:t>Directed BFS graph walk across Ethereum, BSC, Polygon, Tron, and Bitcoin.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3A8A"/>
                </a:solidFill>
              </a:rPr>
              <a:t>• 4-Factor VASP Scoring: </a:t>
            </a:r>
            <a:r>
              <a:rPr sz="950">
                <a:solidFill>
                  <a:srgbClr val="334155"/>
                </a:solidFill>
              </a:rPr>
              <a:t>Proximity (40%), Volume (30%), Recency (20%), and Registry Trust (10%).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3A8A"/>
                </a:solidFill>
              </a:rPr>
              <a:t>• 10-Signal AML Engine: </a:t>
            </a:r>
            <a:r>
              <a:rPr sz="950">
                <a:solidFill>
                  <a:srgbClr val="334155"/>
                </a:solidFill>
              </a:rPr>
              <a:t>Sanctions, mixers, peel chains, rapid exit, and structuring heuristics.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1E3A8A"/>
                </a:solidFill>
              </a:rPr>
              <a:t>• Legal Workflow Integration: </a:t>
            </a:r>
            <a:r>
              <a:rPr sz="950">
                <a:solidFill>
                  <a:srgbClr val="334155"/>
                </a:solidFill>
              </a:rPr>
              <a:t>Automated Section 91 CrPC requisition notices &amp; court-admissible PDF reports.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b="1" sz="2000">
                <a:solidFill>
                  <a:srgbClr val="0F2042"/>
                </a:solidFill>
              </a:defRPr>
            </a:pPr>
            <a:r>
              <a:t>IDEA TITLE: CryptoGuard 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042"/>
                </a:solidFill>
              </a:defRPr>
            </a:pPr>
            <a:r>
              <a:t>CodeMesh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548640" y="1051560"/>
            <a:ext cx="26060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/>
          <a:lstStyle/>
          <a:p>
            <a:pPr algn="ctr">
              <a:spcAft>
                <a:spcPts val="500"/>
              </a:spcAft>
              <a:defRPr b="1" sz="1050">
                <a:solidFill>
                  <a:srgbClr val="1E3A8A"/>
                </a:solidFill>
              </a:defRPr>
            </a:pPr>
            <a:r>
              <a:t>1. BLOCKCHAIN INVESTIGATION</a:t>
            </a:r>
          </a:p>
          <a:p>
            <a:pPr>
              <a:spcAft>
                <a:spcPts val="250"/>
              </a:spcAft>
              <a:defRPr sz="900">
                <a:solidFill>
                  <a:srgbClr val="334155"/>
                </a:solidFill>
              </a:defRPr>
            </a:pPr>
            <a:r>
              <a:t>• Multi-chain: Ethereum, BSC, Polygon, Tron, Bitcoin</a:t>
            </a:r>
          </a:p>
          <a:p>
            <a:pPr>
              <a:spcAft>
                <a:spcPts val="250"/>
              </a:spcAft>
              <a:defRPr sz="900">
                <a:solidFill>
                  <a:srgbClr val="334155"/>
                </a:solidFill>
              </a:defRPr>
            </a:pPr>
            <a:r>
              <a:t>• Directed Breadth-First Search (BFS) multi-hop tracing</a:t>
            </a:r>
          </a:p>
          <a:p>
            <a:pPr>
              <a:spcAft>
                <a:spcPts val="250"/>
              </a:spcAft>
              <a:defRPr sz="900">
                <a:solidFill>
                  <a:srgbClr val="334155"/>
                </a:solidFill>
              </a:defRPr>
            </a:pPr>
            <a:r>
              <a:t>• Interactive Vis.js force-directed transaction graph</a:t>
            </a:r>
          </a:p>
          <a:p>
            <a:pPr>
              <a:spcAft>
                <a:spcPts val="250"/>
              </a:spcAft>
              <a:defRPr sz="900">
                <a:solidFill>
                  <a:srgbClr val="334155"/>
                </a:solidFill>
              </a:defRPr>
            </a:pPr>
            <a:r>
              <a:t>• Node Inspector with real-time inflow/outflow metrics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3337560" y="1051560"/>
            <a:ext cx="26060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/>
          <a:lstStyle/>
          <a:p>
            <a:pPr algn="ctr">
              <a:spcAft>
                <a:spcPts val="500"/>
              </a:spcAft>
              <a:defRPr b="1" sz="1050">
                <a:solidFill>
                  <a:srgbClr val="1E3A8A"/>
                </a:solidFill>
              </a:defRPr>
            </a:pPr>
            <a:r>
              <a:t>2. VASP ATTRIBUTION ENGINE</a:t>
            </a:r>
          </a:p>
          <a:p>
            <a:pPr>
              <a:spcAft>
                <a:spcPts val="250"/>
              </a:spcAft>
              <a:defRPr sz="900">
                <a:solidFill>
                  <a:srgbClr val="334155"/>
                </a:solidFill>
              </a:defRPr>
            </a:pPr>
            <a:r>
              <a:t>• Curated FIU-IND registered &amp; global VASP registry</a:t>
            </a:r>
          </a:p>
          <a:p>
            <a:pPr>
              <a:spcAft>
                <a:spcPts val="250"/>
              </a:spcAft>
              <a:defRPr sz="900">
                <a:solidFill>
                  <a:srgbClr val="334155"/>
                </a:solidFill>
              </a:defRPr>
            </a:pPr>
            <a:r>
              <a:t>• 4-Factor: Proximity 40%, Volume 30%, Recency 20%, Trust 10%</a:t>
            </a:r>
          </a:p>
          <a:p>
            <a:pPr>
              <a:spcAft>
                <a:spcPts val="250"/>
              </a:spcAft>
              <a:defRPr sz="900">
                <a:solidFill>
                  <a:srgbClr val="334155"/>
                </a:solidFill>
              </a:defRPr>
            </a:pPr>
            <a:r>
              <a:t>• Strict evidence rule: interacts_with vs controlled_by</a:t>
            </a:r>
          </a:p>
          <a:p>
            <a:pPr>
              <a:spcAft>
                <a:spcPts val="250"/>
              </a:spcAft>
              <a:defRPr sz="900">
                <a:solidFill>
                  <a:srgbClr val="334155"/>
                </a:solidFill>
              </a:defRPr>
            </a:pPr>
            <a:r>
              <a:t>• Full hop-walk explanation from suspect to deposit node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126480" y="1051560"/>
            <a:ext cx="26060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/>
          <a:lstStyle/>
          <a:p>
            <a:pPr algn="ctr">
              <a:spcAft>
                <a:spcPts val="500"/>
              </a:spcAft>
              <a:defRPr b="1" sz="1050">
                <a:solidFill>
                  <a:srgbClr val="1E3A8A"/>
                </a:solidFill>
              </a:defRPr>
            </a:pPr>
            <a:r>
              <a:t>3. RISK &amp; FORENSIC INTEL</a:t>
            </a:r>
          </a:p>
          <a:p>
            <a:pPr>
              <a:spcAft>
                <a:spcPts val="250"/>
              </a:spcAft>
              <a:defRPr sz="900">
                <a:solidFill>
                  <a:srgbClr val="334155"/>
                </a:solidFill>
              </a:defRPr>
            </a:pPr>
            <a:r>
              <a:t>• 10-Signal weighted AML risk engine (0–100 score)</a:t>
            </a:r>
          </a:p>
          <a:p>
            <a:pPr>
              <a:spcAft>
                <a:spcPts val="250"/>
              </a:spcAft>
              <a:defRPr sz="900">
                <a:solidFill>
                  <a:srgbClr val="334155"/>
                </a:solidFill>
              </a:defRPr>
            </a:pPr>
            <a:r>
              <a:t>• Active typologies: Peel chains, Mixer hops, Rapid exit</a:t>
            </a:r>
          </a:p>
          <a:p>
            <a:pPr>
              <a:spcAft>
                <a:spcPts val="250"/>
              </a:spcAft>
              <a:defRPr sz="900">
                <a:solidFill>
                  <a:srgbClr val="334155"/>
                </a:solidFill>
              </a:defRPr>
            </a:pPr>
            <a:r>
              <a:t>• Behavioral archetypes: Exchange, Mule, Scam, Stash</a:t>
            </a:r>
          </a:p>
          <a:p>
            <a:pPr>
              <a:spcAft>
                <a:spcPts val="250"/>
              </a:spcAft>
              <a:defRPr sz="900">
                <a:solidFill>
                  <a:srgbClr val="334155"/>
                </a:solidFill>
              </a:defRPr>
            </a:pPr>
            <a:r>
              <a:t>• Forensic Copilot: Rule engine + optional LLM integration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8915400" y="1051560"/>
            <a:ext cx="260604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/>
          <a:lstStyle/>
          <a:p>
            <a:pPr algn="ctr">
              <a:spcAft>
                <a:spcPts val="500"/>
              </a:spcAft>
              <a:defRPr b="1" sz="1050">
                <a:solidFill>
                  <a:srgbClr val="1E3A8A"/>
                </a:solidFill>
              </a:defRPr>
            </a:pPr>
            <a:r>
              <a:t>4. INVESTIGATION &amp; RESPONSE</a:t>
            </a:r>
          </a:p>
          <a:p>
            <a:pPr>
              <a:spcAft>
                <a:spcPts val="250"/>
              </a:spcAft>
              <a:defRPr sz="900">
                <a:solidFill>
                  <a:srgbClr val="334155"/>
                </a:solidFill>
              </a:defRPr>
            </a:pPr>
            <a:r>
              <a:t>• Evidence Locker with SHA-256 integrity hash tracking</a:t>
            </a:r>
          </a:p>
          <a:p>
            <a:pPr>
              <a:spcAft>
                <a:spcPts val="250"/>
              </a:spcAft>
              <a:defRPr sz="900">
                <a:solidFill>
                  <a:srgbClr val="334155"/>
                </a:solidFill>
              </a:defRPr>
            </a:pPr>
            <a:r>
              <a:t>• Reconstructed multi-chain chronological timeline</a:t>
            </a:r>
          </a:p>
          <a:p>
            <a:pPr>
              <a:spcAft>
                <a:spcPts val="250"/>
              </a:spcAft>
              <a:defRPr sz="900">
                <a:solidFill>
                  <a:srgbClr val="334155"/>
                </a:solidFill>
              </a:defRPr>
            </a:pPr>
            <a:r>
              <a:t>• 1-Click statutory Section 91 CrPC notice generator</a:t>
            </a:r>
          </a:p>
          <a:p>
            <a:pPr>
              <a:spcAft>
                <a:spcPts val="250"/>
              </a:spcAft>
              <a:defRPr sz="900">
                <a:solidFill>
                  <a:srgbClr val="334155"/>
                </a:solidFill>
              </a:defRPr>
            </a:pPr>
            <a:r>
              <a:t>• ReportLab court-ready PDF &amp; SAHYOG-ready workflow</a:t>
            </a:r>
          </a:p>
        </p:txBody>
      </p:sp>
      <p:pic>
        <p:nvPicPr>
          <p:cNvPr id="15366" name="Picture 15365" descr="cryptoguard_screenshot_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364992"/>
            <a:ext cx="5349240" cy="2240280"/>
          </a:xfrm>
          <a:prstGeom prst="rect">
            <a:avLst/>
          </a:prstGeom>
        </p:spPr>
      </p:pic>
      <p:sp>
        <p:nvSpPr>
          <p:cNvPr id="15367" name="Rounded Rectangle 15366"/>
          <p:cNvSpPr/>
          <p:nvPr/>
        </p:nvSpPr>
        <p:spPr>
          <a:xfrm>
            <a:off x="548640" y="5632704"/>
            <a:ext cx="5349240" cy="2560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1E3A8A"/>
                </a:solidFill>
              </a:defRPr>
            </a:pPr>
            <a:r>
              <a:t>DEMO MODE: Interactive Vis.js Multi-Hop Transaction Graph (12 Nodes, Mule Peeling, VASP Hops)</a:t>
            </a:r>
          </a:p>
        </p:txBody>
      </p:sp>
      <p:pic>
        <p:nvPicPr>
          <p:cNvPr id="15368" name="Picture 15367" descr="cryptoguard_screenshot_vas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364992"/>
            <a:ext cx="5349240" cy="2240280"/>
          </a:xfrm>
          <a:prstGeom prst="rect">
            <a:avLst/>
          </a:prstGeom>
        </p:spPr>
      </p:pic>
      <p:sp>
        <p:nvSpPr>
          <p:cNvPr id="15369" name="Rounded Rectangle 15368"/>
          <p:cNvSpPr/>
          <p:nvPr/>
        </p:nvSpPr>
        <p:spPr>
          <a:xfrm>
            <a:off x="6172200" y="5632704"/>
            <a:ext cx="5349240" cy="256032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047857"/>
                </a:solidFill>
              </a:defRPr>
            </a:pPr>
            <a:r>
              <a:t>DEMO MODE: VASP Attribution Console (CoinDCX 84.5% FIU-IND, Binance 73.8%, Kraken 58.2%)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548640" y="5925312"/>
            <a:ext cx="10972800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2563EB"/>
                </a:solidFill>
              </a:defRPr>
            </a:pPr>
            <a:r>
              <a:t>FLOW: UNKNOWN WALLET -&gt; BLOCKCHAIN ADAPTERS -&gt; MULTI-HOP GRAPH -&gt; WALLET INTEL -&gt; VASP ATTRIBUTION -&gt; RISK SCORING -&gt; EVIDENCE +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>
                <a:solidFill>
                  <a:srgbClr val="0F2042"/>
                </a:solidFill>
              </a:defRPr>
            </a:pPr>
            <a:r>
              <a:t>TECHNICAL APPROACH: CryptoGuard AI Forensic Pipeline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042"/>
                </a:solidFill>
              </a:defRPr>
            </a:pPr>
            <a:r>
              <a:t>CodeMesh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690372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64592"/>
          <a:lstStyle/>
          <a:p>
            <a:pPr algn="ctr">
              <a:spcAft>
                <a:spcPts val="600"/>
              </a:spcAft>
              <a:defRPr b="1" sz="1100">
                <a:solidFill>
                  <a:srgbClr val="1E3A8A"/>
                </a:solidFill>
              </a:defRPr>
            </a:pPr>
            <a:r>
              <a:t>END-TO-END INVESTIGATION WORKFLOW &amp; METHODOLOGY</a:t>
            </a:r>
          </a:p>
          <a:p>
            <a:pPr>
              <a:spcAft>
                <a:spcPts val="450"/>
              </a:spcAft>
            </a:pPr>
            <a:r>
              <a:rPr b="1" sz="919">
                <a:solidFill>
                  <a:srgbClr val="2563EB"/>
                </a:solidFill>
              </a:rPr>
              <a:t>1. TARGET INPUT: </a:t>
            </a:r>
            <a:r>
              <a:rPr sz="880">
                <a:solidFill>
                  <a:srgbClr val="334155"/>
                </a:solidFill>
              </a:rPr>
              <a:t>Investigator inputs suspect address, selects chain (ETH, BSC, Polygon, Tron, BTC), and sets max hops (1–6).</a:t>
            </a:r>
          </a:p>
          <a:p>
            <a:pPr>
              <a:spcAft>
                <a:spcPts val="450"/>
              </a:spcAft>
            </a:pPr>
            <a:r>
              <a:rPr b="1" sz="919">
                <a:solidFill>
                  <a:srgbClr val="2563EB"/>
                </a:solidFill>
              </a:rPr>
              <a:t>2. BLOCKCHAIN ADAPTERS: </a:t>
            </a:r>
            <a:r>
              <a:rPr sz="880">
                <a:solidFill>
                  <a:srgbClr val="334155"/>
                </a:solidFill>
              </a:rPr>
              <a:t>Modular REST clients (Etherscan v2, TronGrid, Blockstream) fetch raw on-chain transaction records.</a:t>
            </a:r>
          </a:p>
          <a:p>
            <a:pPr>
              <a:spcAft>
                <a:spcPts val="450"/>
              </a:spcAft>
            </a:pPr>
            <a:r>
              <a:rPr b="1" sz="919">
                <a:solidFill>
                  <a:srgbClr val="2563EB"/>
                </a:solidFill>
              </a:rPr>
              <a:t>3. TRANSACTION NORMALIZATION: </a:t>
            </a:r>
            <a:r>
              <a:rPr sz="880">
                <a:solidFill>
                  <a:srgbClr val="334155"/>
                </a:solidFill>
              </a:rPr>
              <a:t>Address checksum validation, wei/satoshi conversion, ERC-20 parsing, and chronological indexing.</a:t>
            </a:r>
          </a:p>
          <a:p>
            <a:pPr>
              <a:spcAft>
                <a:spcPts val="450"/>
              </a:spcAft>
            </a:pPr>
            <a:r>
              <a:rPr b="1" sz="919">
                <a:solidFill>
                  <a:srgbClr val="2563EB"/>
                </a:solidFill>
              </a:rPr>
              <a:t>4. GRAPH ANALYSIS (BFS): </a:t>
            </a:r>
            <a:r>
              <a:rPr sz="880">
                <a:solidFill>
                  <a:srgbClr val="334155"/>
                </a:solidFill>
              </a:rPr>
              <a:t>Directed Breadth-First Search builds multi-hop fund flow graph; pruned cycles rendered via Vis.js.</a:t>
            </a:r>
          </a:p>
          <a:p>
            <a:pPr>
              <a:spcAft>
                <a:spcPts val="450"/>
              </a:spcAft>
            </a:pPr>
            <a:r>
              <a:rPr b="1" sz="919">
                <a:solidFill>
                  <a:srgbClr val="2563EB"/>
                </a:solidFill>
              </a:rPr>
              <a:t>5. VASP ATTRIBUTION ENGINE: </a:t>
            </a:r>
            <a:r>
              <a:rPr sz="880">
                <a:solidFill>
                  <a:srgbClr val="334155"/>
                </a:solidFill>
              </a:rPr>
              <a:t>4-Factor scoring (Proximity 40%, Volume 30%, Recency 20%, Provenance 10%) identifies nearest VASP.</a:t>
            </a:r>
          </a:p>
          <a:p>
            <a:pPr>
              <a:spcAft>
                <a:spcPts val="450"/>
              </a:spcAft>
            </a:pPr>
            <a:r>
              <a:rPr b="1" sz="919">
                <a:solidFill>
                  <a:srgbClr val="2563EB"/>
                </a:solidFill>
              </a:rPr>
              <a:t>6. RISK &amp; AML ENGINE: </a:t>
            </a:r>
            <a:r>
              <a:rPr sz="880">
                <a:solidFill>
                  <a:srgbClr val="334155"/>
                </a:solidFill>
              </a:rPr>
              <a:t>10-Signal explainable risk calculation (OFAC sanctions, mixers, peel chains, structuring) outputs 0–100 score.</a:t>
            </a:r>
          </a:p>
          <a:p>
            <a:pPr>
              <a:spcAft>
                <a:spcPts val="450"/>
              </a:spcAft>
            </a:pPr>
            <a:r>
              <a:rPr b="1" sz="919">
                <a:solidFill>
                  <a:srgbClr val="2563EB"/>
                </a:solidFill>
              </a:rPr>
              <a:t>7. FORENSIC WORKSPACE: </a:t>
            </a:r>
            <a:r>
              <a:rPr sz="880">
                <a:solidFill>
                  <a:srgbClr val="334155"/>
                </a:solidFill>
              </a:rPr>
              <a:t>Reconstructs chronological timeline, SHA-256 evidence locker, behavioral classification, &amp; Node Inspector.</a:t>
            </a:r>
          </a:p>
          <a:p>
            <a:pPr>
              <a:spcAft>
                <a:spcPts val="450"/>
              </a:spcAft>
            </a:pPr>
            <a:r>
              <a:rPr b="1" sz="919">
                <a:solidFill>
                  <a:srgbClr val="2563EB"/>
                </a:solidFill>
              </a:rPr>
              <a:t>8. RESPONSE &amp; LEGAL EXPORT: </a:t>
            </a:r>
            <a:r>
              <a:rPr sz="880">
                <a:solidFill>
                  <a:srgbClr val="334155"/>
                </a:solidFill>
              </a:rPr>
              <a:t>Automated Section 91 CrPC requisition notice generation, ReportLab PDF report, &amp; SAHYOG-ready stub.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7635240" y="1051560"/>
            <a:ext cx="3977639" cy="32918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64592"/>
          <a:lstStyle/>
          <a:p>
            <a:pPr algn="ctr">
              <a:spcAft>
                <a:spcPts val="600"/>
              </a:spcAft>
              <a:defRPr b="1" sz="1100">
                <a:solidFill>
                  <a:srgbClr val="0F2042"/>
                </a:solidFill>
              </a:defRPr>
            </a:pPr>
            <a:r>
              <a:t>TECHNOLOGY STACK ARCHITECTURE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E3A8A"/>
                </a:solidFill>
              </a:rPr>
              <a:t>• Frontend: </a:t>
            </a:r>
            <a:r>
              <a:rPr sz="850">
                <a:solidFill>
                  <a:srgbClr val="334155"/>
                </a:solidFill>
              </a:rPr>
              <a:t>Vanilla HTML5, CSS3, ES6 JavaScript (Zero CDN / 100% offline)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E3A8A"/>
                </a:solidFill>
              </a:rPr>
              <a:t>• Graph Visualization: </a:t>
            </a:r>
            <a:r>
              <a:rPr sz="850">
                <a:solidFill>
                  <a:srgbClr val="334155"/>
                </a:solidFill>
              </a:rPr>
              <a:t>Vis-network v9.1.2 (Bundled force-directed physics engine)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E3A8A"/>
                </a:solidFill>
              </a:rPr>
              <a:t>• Backend Framework: </a:t>
            </a:r>
            <a:r>
              <a:rPr sz="850">
                <a:solidFill>
                  <a:srgbClr val="334155"/>
                </a:solidFill>
              </a:rPr>
              <a:t>Python 3.10+ / FastAPI v0.141 on Starlette &amp; Uvicorn ASGI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E3A8A"/>
                </a:solidFill>
              </a:rPr>
              <a:t>• Forensic Database: </a:t>
            </a:r>
            <a:r>
              <a:rPr sz="850">
                <a:solidFill>
                  <a:srgbClr val="334155"/>
                </a:solidFill>
              </a:rPr>
              <a:t>SQLite3 persistent store (cryptoguard.db, 7 indexed tables)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E3A8A"/>
                </a:solidFill>
              </a:rPr>
              <a:t>• Blockchain APIs: </a:t>
            </a:r>
            <a:r>
              <a:rPr sz="850">
                <a:solidFill>
                  <a:srgbClr val="334155"/>
                </a:solidFill>
              </a:rPr>
              <a:t>Etherscan v2 API, TronGrid REST, Blockstream Bitcoin REST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E3A8A"/>
                </a:solidFill>
              </a:rPr>
              <a:t>• Investigation Copilot: </a:t>
            </a:r>
            <a:r>
              <a:rPr sz="850">
                <a:solidFill>
                  <a:srgbClr val="334155"/>
                </a:solidFill>
              </a:rPr>
              <a:t>Explainable Rule-Based Engine + Optional LLM Integration</a:t>
            </a:r>
          </a:p>
          <a:p>
            <a:pPr>
              <a:spcAft>
                <a:spcPts val="300"/>
              </a:spcAft>
            </a:pPr>
            <a:r>
              <a:rPr b="1" sz="900">
                <a:solidFill>
                  <a:srgbClr val="1E3A8A"/>
                </a:solidFill>
              </a:rPr>
              <a:t>• Report Generation: </a:t>
            </a:r>
            <a:r>
              <a:rPr sz="850">
                <a:solidFill>
                  <a:srgbClr val="334155"/>
                </a:solidFill>
              </a:rPr>
              <a:t>ReportLab v5.0 Binary PDF Engine with SHA-256 verification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635240" y="4480560"/>
            <a:ext cx="3977639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 rIns="164592"/>
          <a:lstStyle/>
          <a:p>
            <a:pPr algn="ctr">
              <a:spcAft>
                <a:spcPts val="500"/>
              </a:spcAft>
              <a:defRPr b="1" sz="1050">
                <a:solidFill>
                  <a:srgbClr val="0F2042"/>
                </a:solidFill>
              </a:defRPr>
            </a:pPr>
            <a:r>
              <a:t>OFFICIAL LINKS &amp; DELIVERABLES</a:t>
            </a:r>
          </a:p>
          <a:p>
            <a:pPr>
              <a:spcAft>
                <a:spcPts val="350"/>
              </a:spcAft>
            </a:pPr>
            <a:r>
              <a:rPr b="1" sz="900">
                <a:solidFill>
                  <a:srgbClr val="334155"/>
                </a:solidFill>
              </a:rPr>
              <a:t>GITHUB LINK: </a:t>
            </a:r>
            <a:r>
              <a:rPr sz="850">
                <a:solidFill>
                  <a:srgbClr val="2563EB"/>
                </a:solidFill>
              </a:rPr>
              <a:t>https://github.com/aryan311007w-ux/SIH-codeMesh</a:t>
            </a:r>
          </a:p>
          <a:p>
            <a:pPr>
              <a:spcAft>
                <a:spcPts val="350"/>
              </a:spcAft>
            </a:pPr>
            <a:r>
              <a:rPr b="1" sz="900">
                <a:solidFill>
                  <a:srgbClr val="334155"/>
                </a:solidFill>
              </a:rPr>
              <a:t>WEBSITE LINK: </a:t>
            </a:r>
            <a:r>
              <a:rPr sz="850">
                <a:solidFill>
                  <a:srgbClr val="64748B"/>
                </a:solidFill>
              </a:rPr>
              <a:t>To be updated after deployment</a:t>
            </a:r>
          </a:p>
          <a:p>
            <a:pPr>
              <a:spcAft>
                <a:spcPts val="350"/>
              </a:spcAft>
            </a:pPr>
            <a:r>
              <a:rPr b="1" sz="900">
                <a:solidFill>
                  <a:srgbClr val="334155"/>
                </a:solidFill>
              </a:rPr>
              <a:t>DEMO VIDEO: </a:t>
            </a:r>
            <a:r>
              <a:rPr sz="850">
                <a:solidFill>
                  <a:srgbClr val="64748B"/>
                </a:solidFill>
              </a:rPr>
              <a:t>To be updated after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>
                <a:solidFill>
                  <a:srgbClr val="0F2042"/>
                </a:solidFill>
              </a:defRPr>
            </a:pPr>
            <a:r>
              <a:t>FEASIBILITY AND VIABILITY: Problem, Solution &amp; Scalability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042"/>
                </a:solidFill>
              </a:defRPr>
            </a:pPr>
            <a:r>
              <a:t>CodeMesh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352044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/>
          <a:lstStyle/>
          <a:p>
            <a:pPr algn="ctr">
              <a:spcAft>
                <a:spcPts val="700"/>
              </a:spcAft>
              <a:defRPr b="1" sz="1100">
                <a:solidFill>
                  <a:srgbClr val="B91C1C"/>
                </a:solidFill>
              </a:defRPr>
            </a:pPr>
            <a:r>
              <a:t>OPERATIONAL CHALLENGES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Rapid Fund Dissipation: Stolen crypto structured &amp; layered across peel chains in minutes.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Multi-Hop Graph Complexity: Obfuscation through multiple intermediate mule accounts.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Cross-Chain Fragmentation: Criminals hopping across Ethereum, Tron, BSC, Polygon, Bitcoin.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Attribution Uncertainty: Unreliable clustering without verified VASP registries or legal distinction.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Opaque Black-Box Forensics: Defense challenges in court against unexplainable proprietary scores.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Manual Paperwork Overhead: Hours spent compiling Section 91 CrPC notices and chain of custody.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251960" y="1051560"/>
            <a:ext cx="352044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/>
          <a:lstStyle/>
          <a:p>
            <a:pPr algn="ctr">
              <a:spcAft>
                <a:spcPts val="700"/>
              </a:spcAft>
              <a:defRPr b="1" sz="1100">
                <a:solidFill>
                  <a:srgbClr val="1E3A8A"/>
                </a:solidFill>
              </a:defRPr>
            </a:pPr>
            <a:r>
              <a:t>CRYPTOGUARD AI SOLUTION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Automated BFS Traversal: Traces complex multi-hop fund flows in sub-second graph walks.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Transparent 4-Factor Scoring: Mathematical confidence (Proximity, Interaction, Recency, Provenance).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Unified Multi-Chain Schema: Standardized investigation across 5 major blockchain ecosystems.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Explainable Evidence: Strict legal separation of on-chain hops from behavioral heuristics.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Instant Statutory Requisitions: 1-Click Section 91 CrPC notices populated with VASP nodals.</a:t>
            </a:r>
          </a:p>
          <a:p>
            <a:pPr>
              <a:spcAft>
                <a:spcPts val="400"/>
              </a:spcAft>
              <a:defRPr sz="900">
                <a:solidFill>
                  <a:srgbClr val="334155"/>
                </a:solidFill>
              </a:defRPr>
            </a:pPr>
            <a:r>
              <a:t>• Tamper-Evident Reporting: ReportLab generated PDF with cryptographic SHA-256 evidence logs.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955279" y="1051560"/>
            <a:ext cx="3520440" cy="3794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/>
          <a:lstStyle/>
          <a:p>
            <a:pPr algn="ctr">
              <a:spcAft>
                <a:spcPts val="700"/>
              </a:spcAft>
              <a:defRPr b="1" sz="1100">
                <a:solidFill>
                  <a:srgbClr val="047857"/>
                </a:solidFill>
              </a:defRPr>
            </a:pPr>
            <a:r>
              <a:t>FEASIBILITY &amp; SCALABILITY PILLARS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E3A8A"/>
                </a:solidFill>
              </a:rPr>
              <a:t>• Technical Feasibility: </a:t>
            </a:r>
            <a:r>
              <a:rPr sz="850">
                <a:solidFill>
                  <a:srgbClr val="334155"/>
                </a:solidFill>
              </a:rPr>
              <a:t>Lightweight Python/FastAPI + Vis.js stack; deterministic execution with zero heavy GPU overhead.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E3A8A"/>
                </a:solidFill>
              </a:rPr>
              <a:t>• Practical Implementability: </a:t>
            </a:r>
            <a:r>
              <a:rPr sz="850">
                <a:solidFill>
                  <a:srgbClr val="334155"/>
                </a:solidFill>
              </a:rPr>
              <a:t>Repeatable workflow; built-in high-fidelity Demo Mode for offline evaluation; zero compilation.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E3A8A"/>
                </a:solidFill>
              </a:rPr>
              <a:t>• Sustainable Impact: </a:t>
            </a:r>
            <a:r>
              <a:rPr sz="850">
                <a:solidFill>
                  <a:srgbClr val="334155"/>
                </a:solidFill>
              </a:rPr>
              <a:t>Aligned with FIU-IND reporting guidelines, PMLA 2002, and LEA standard operating procedures.</a:t>
            </a:r>
          </a:p>
          <a:p>
            <a:pPr>
              <a:spcAft>
                <a:spcPts val="400"/>
              </a:spcAft>
            </a:pPr>
            <a:r>
              <a:rPr b="1" sz="900">
                <a:solidFill>
                  <a:srgbClr val="1E3A8A"/>
                </a:solidFill>
              </a:rPr>
              <a:t>• Scalability by Design: </a:t>
            </a:r>
            <a:r>
              <a:rPr sz="850">
                <a:solidFill>
                  <a:srgbClr val="334155"/>
                </a:solidFill>
              </a:rPr>
              <a:t>Current MVP can evolve toward PostgreSQL, production blockchain APIs, institutional authentication, &amp; live government portals.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4983480"/>
            <a:ext cx="10927080" cy="114300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/>
          <a:lstStyle/>
          <a:p>
            <a:pPr algn="ctr">
              <a:spcAft>
                <a:spcPts val="200"/>
              </a:spcAft>
              <a:defRPr b="1" sz="1000">
                <a:solidFill>
                  <a:srgbClr val="B45309"/>
                </a:solidFill>
              </a:defRPr>
            </a:pPr>
            <a:r>
              <a:t>RISK IDENTIFICATION &amp; MITIGATION STRATEGY</a:t>
            </a:r>
          </a:p>
          <a:p>
            <a:pPr>
              <a:defRPr sz="880">
                <a:solidFill>
                  <a:srgbClr val="334155"/>
                </a:solidFill>
              </a:defRPr>
            </a:pPr>
            <a:r>
              <a:t>• API Rate Limits: Handled via deterministic demo fixture fallback &amp; key rotation  |  • Blockchain Data Quality: Addressed via volume thresholds &amp; node deduplication  |  • Attribution Uncertainty: Explicitly separated into interacts_with vs controlled_by  |  • Institutional Hardening: Architecture ready for JWT auth &amp; role-based access control (RBAC).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>
                <a:solidFill>
                  <a:srgbClr val="0F2042"/>
                </a:solidFill>
              </a:defRPr>
            </a:pPr>
            <a:r>
              <a:t>IMPACT AND BENEFITS: Stakeholder Value &amp; Long-Term Transformation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042"/>
                </a:solidFill>
              </a:defRPr>
            </a:pPr>
            <a:r>
              <a:t>CodeMesh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26060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/>
          <a:lstStyle/>
          <a:p>
            <a:pPr algn="ctr">
              <a:spcAft>
                <a:spcPts val="500"/>
              </a:spcAft>
              <a:defRPr b="1" sz="1000">
                <a:solidFill>
                  <a:srgbClr val="1E3A8A"/>
                </a:solidFill>
              </a:defRPr>
            </a:pPr>
            <a:r>
              <a:t>LAW ENFORCEMENT &amp; INVESTIGATORS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Accelerates preliminary tracing from days to minutes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Unified multi-chain graph eliminates portal switching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Structured evidence locker maintains chain of custody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Repeatable, reproducible forensic investigation workflow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3337560" y="1051560"/>
            <a:ext cx="26060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/>
          <a:lstStyle/>
          <a:p>
            <a:pPr algn="ctr">
              <a:spcAft>
                <a:spcPts val="500"/>
              </a:spcAft>
              <a:defRPr b="1" sz="1000">
                <a:solidFill>
                  <a:srgbClr val="1E3A8A"/>
                </a:solidFill>
              </a:defRPr>
            </a:pPr>
            <a:r>
              <a:t>CYBERCRIME CELLS &amp; PROSECUTION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Automated statutory Section 91 CrPC notice drafting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Transparent mathematical scores defensible in court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Court-admissible PDF reports with cryptographic hashes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Response-ready workflow aligned with national SOPs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26480" y="1051560"/>
            <a:ext cx="26060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/>
          <a:lstStyle/>
          <a:p>
            <a:pPr algn="ctr">
              <a:spcAft>
                <a:spcPts val="500"/>
              </a:spcAft>
              <a:defRPr b="1" sz="1000">
                <a:solidFill>
                  <a:srgbClr val="1E3A8A"/>
                </a:solidFill>
              </a:defRPr>
            </a:pPr>
            <a:r>
              <a:t>VASPS &amp; COMPLIANCE OFFICERS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Requisitions contain exact hop paths, tx hashes, &amp; times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Direct identification of deposit aggregators cuts delays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Fulfills Prevention of Money Laundering Act obligations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Streamlines communication with FIU-IND registered entities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915400" y="1051560"/>
            <a:ext cx="2606040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/>
          <a:lstStyle/>
          <a:p>
            <a:pPr algn="ctr">
              <a:spcAft>
                <a:spcPts val="500"/>
              </a:spcAft>
              <a:defRPr b="1" sz="1000">
                <a:solidFill>
                  <a:srgbClr val="1E3A8A"/>
                </a:solidFill>
              </a:defRPr>
            </a:pPr>
            <a:r>
              <a:t>FINANCIAL &amp; LEGAL ECOSYSTEM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Lowers friction for recovering stolen proceeds of crime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Establishes a transparent benchmark for crypto attribution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Multi-chain extensible architecture adaptable to new tokens</a:t>
            </a:r>
          </a:p>
          <a:p>
            <a:pPr>
              <a:spcAft>
                <a:spcPts val="250"/>
              </a:spcAft>
              <a:defRPr sz="880">
                <a:solidFill>
                  <a:srgbClr val="334155"/>
                </a:solidFill>
              </a:defRPr>
            </a:pPr>
            <a:r>
              <a:t>• Open, auditable codebase fostering institutional trust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48640" y="3291840"/>
            <a:ext cx="10927080" cy="2834640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/>
          <a:lstStyle/>
          <a:p>
            <a:pPr algn="ctr">
              <a:spcAft>
                <a:spcPts val="500"/>
              </a:spcAft>
              <a:defRPr b="1" sz="1100">
                <a:solidFill>
                  <a:srgbClr val="0F2042"/>
                </a:solidFill>
              </a:defRPr>
            </a:pPr>
            <a:r>
              <a:t>LONG-TERM SYSTEMIC EFFECTS ON NATIONAL BLOCKCHAIN FORENSICS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713232" y="3749039"/>
            <a:ext cx="34290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/>
          <a:lstStyle/>
          <a:p>
            <a:pPr algn="ctr">
              <a:spcAft>
                <a:spcPts val="200"/>
              </a:spcAft>
              <a:defRPr b="1" sz="919">
                <a:solidFill>
                  <a:srgbClr val="1E3A8A"/>
                </a:solidFill>
              </a:defRPr>
            </a:pPr>
            <a:r>
              <a:t>1. Accelerated Asset Freezing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Minimizes the critical time window before illicit funds are cashed out to fiat through domestic exchanges.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370832" y="3749039"/>
            <a:ext cx="34290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/>
          <a:lstStyle/>
          <a:p>
            <a:pPr algn="ctr">
              <a:spcAft>
                <a:spcPts val="200"/>
              </a:spcAft>
              <a:defRPr b="1" sz="919">
                <a:solidFill>
                  <a:srgbClr val="1E3A8A"/>
                </a:solidFill>
              </a:defRPr>
            </a:pPr>
            <a:r>
              <a:t>2. Standardized Digital Requisitions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Replaces fragmented informal queries with statutory Section 91 CrPC notices containing full evidentiary trails.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028432" y="3749039"/>
            <a:ext cx="34290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/>
          <a:lstStyle/>
          <a:p>
            <a:pPr algn="ctr">
              <a:spcAft>
                <a:spcPts val="200"/>
              </a:spcAft>
              <a:defRPr b="1" sz="919">
                <a:solidFill>
                  <a:srgbClr val="1E3A8A"/>
                </a:solidFill>
              </a:defRPr>
            </a:pPr>
            <a:r>
              <a:t>3. Cross-Chain Investigative Parity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Empowers investigators to track assets across EVM, Tron, and Bitcoin inside a single consolidated workspace.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713232" y="4864607"/>
            <a:ext cx="34290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/>
          <a:lstStyle/>
          <a:p>
            <a:pPr algn="ctr">
              <a:spcAft>
                <a:spcPts val="200"/>
              </a:spcAft>
              <a:defRPr b="1" sz="919">
                <a:solidFill>
                  <a:srgbClr val="1E3A8A"/>
                </a:solidFill>
              </a:defRPr>
            </a:pPr>
            <a:r>
              <a:t>4. Institutional Evidentiary Memory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Persistent SQLite storage guarantees repeatable, verifiable re-analysis and audit trails for cold cyber cases.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4370832" y="4864607"/>
            <a:ext cx="34290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/>
          <a:lstStyle/>
          <a:p>
            <a:pPr algn="ctr">
              <a:spcAft>
                <a:spcPts val="200"/>
              </a:spcAft>
              <a:defRPr b="1" sz="919">
                <a:solidFill>
                  <a:srgbClr val="1E3A8A"/>
                </a:solidFill>
              </a:defRPr>
            </a:pPr>
            <a:r>
              <a:t>5. Low-Cost Station Deployment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Zero heavy ML dependency allows rapid deployment across district cybercrime police stations without server clusters.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028432" y="4864607"/>
            <a:ext cx="342900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/>
          <a:lstStyle/>
          <a:p>
            <a:pPr algn="ctr">
              <a:spcAft>
                <a:spcPts val="200"/>
              </a:spcAft>
              <a:defRPr b="1" sz="919">
                <a:solidFill>
                  <a:srgbClr val="1E3A8A"/>
                </a:solidFill>
              </a:defRPr>
            </a:pPr>
            <a:r>
              <a:t>6. National Integration-Ready</a:t>
            </a:r>
          </a:p>
          <a:p>
            <a:pPr>
              <a:defRPr sz="819">
                <a:solidFill>
                  <a:srgbClr val="334155"/>
                </a:solidFill>
              </a:defRPr>
            </a:pPr>
            <a:r>
              <a:t>Native data schemas aligned with the Indian Cybercrime Coordination Centre (I4C) and SAHYOG portal.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2000">
                <a:solidFill>
                  <a:srgbClr val="0F2042"/>
                </a:solidFill>
              </a:defRPr>
            </a:pPr>
            <a:r>
              <a:t>RESEARCH AND REFERENCES: Regulatory, Protocol &amp; Academic Foundations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F2042"/>
                </a:solidFill>
              </a:defRPr>
            </a:pPr>
            <a:r>
              <a:t>CodeMesh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051560"/>
            <a:ext cx="3520440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/>
          <a:lstStyle/>
          <a:p>
            <a:pPr algn="ctr">
              <a:spcAft>
                <a:spcPts val="700"/>
              </a:spcAft>
              <a:defRPr b="1" sz="1050">
                <a:solidFill>
                  <a:srgbClr val="1E3A8A"/>
                </a:solidFill>
              </a:defRPr>
            </a:pPr>
            <a:r>
              <a:t>STATUTORY &amp; REGULATORY FRAMEWORKS</a:t>
            </a:r>
          </a:p>
          <a:p>
            <a:pPr>
              <a:spcAft>
                <a:spcPts val="450"/>
              </a:spcAft>
            </a:pPr>
            <a:r>
              <a:rPr b="1" sz="880">
                <a:solidFill>
                  <a:srgbClr val="2563EB"/>
                </a:solidFill>
              </a:rPr>
              <a:t>• FATF Virtual Assets Guidance (2021/2023): </a:t>
            </a:r>
            <a:r>
              <a:rPr sz="830">
                <a:solidFill>
                  <a:srgbClr val="334155"/>
                </a:solidFill>
              </a:rPr>
              <a:t>Financial Action Task Force, Updated Guidance for a Risk-Based Approach to Virtual Assets and VASPs, Recommendation 15 &amp; 16 (Travel Rule).</a:t>
            </a:r>
          </a:p>
          <a:p>
            <a:pPr>
              <a:spcAft>
                <a:spcPts val="450"/>
              </a:spcAft>
            </a:pPr>
            <a:r>
              <a:rPr b="1" sz="880">
                <a:solidFill>
                  <a:srgbClr val="2563EB"/>
                </a:solidFill>
              </a:rPr>
              <a:t>• FIU-IND AML/CFT Guidelines (2023): </a:t>
            </a:r>
            <a:r>
              <a:rPr sz="830">
                <a:solidFill>
                  <a:srgbClr val="334155"/>
                </a:solidFill>
              </a:rPr>
              <a:t>Financial Intelligence Unit - India, Anti-Money Laundering &amp; Countering Financing of Terrorism Guidelines for Virtual Digital Asset Service Providers (PMLA compliance).</a:t>
            </a:r>
          </a:p>
          <a:p>
            <a:pPr>
              <a:spcAft>
                <a:spcPts val="450"/>
              </a:spcAft>
            </a:pPr>
            <a:r>
              <a:rPr b="1" sz="880">
                <a:solidFill>
                  <a:srgbClr val="2563EB"/>
                </a:solidFill>
              </a:rPr>
              <a:t>• Section 91 CrPC / Section 94 BNSS: </a:t>
            </a:r>
            <a:r>
              <a:rPr sz="830">
                <a:solidFill>
                  <a:srgbClr val="334155"/>
                </a:solidFill>
              </a:rPr>
              <a:t>Code of Criminal Procedure, 1973 (Section 91) &amp; Bharatiya Nagarik Suraksha Sanhita, 2023 (Section 94) — Legal summons for digital evidence.</a:t>
            </a:r>
          </a:p>
          <a:p>
            <a:pPr>
              <a:spcAft>
                <a:spcPts val="450"/>
              </a:spcAft>
            </a:pPr>
            <a:r>
              <a:rPr b="1" sz="880">
                <a:solidFill>
                  <a:srgbClr val="2563EB"/>
                </a:solidFill>
              </a:rPr>
              <a:t>• Prevention of Money Laundering Act (2002): </a:t>
            </a:r>
            <a:r>
              <a:rPr sz="830">
                <a:solidFill>
                  <a:srgbClr val="334155"/>
                </a:solidFill>
              </a:rPr>
              <a:t>PMLA 2002 Section 12 — Maintenance of records, identification of clients, &amp; furnished information by crypto Reporting Entities.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251960" y="1051560"/>
            <a:ext cx="3520440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/>
          <a:lstStyle/>
          <a:p>
            <a:pPr algn="ctr">
              <a:spcAft>
                <a:spcPts val="700"/>
              </a:spcAft>
              <a:defRPr b="1" sz="1050">
                <a:solidFill>
                  <a:srgbClr val="1E3A8A"/>
                </a:solidFill>
              </a:defRPr>
            </a:pPr>
            <a:r>
              <a:t>BLOCKCHAIN APIS &amp; FORENSIC PROTOCOLS</a:t>
            </a:r>
          </a:p>
          <a:p>
            <a:pPr>
              <a:spcAft>
                <a:spcPts val="450"/>
              </a:spcAft>
            </a:pPr>
            <a:r>
              <a:rPr b="1" sz="880">
                <a:solidFill>
                  <a:srgbClr val="2563EB"/>
                </a:solidFill>
              </a:rPr>
              <a:t>• Etherscan V2 API Developer Protocol: </a:t>
            </a:r>
            <a:r>
              <a:rPr sz="830">
                <a:solidFill>
                  <a:srgbClr val="334155"/>
                </a:solidFill>
              </a:rPr>
              <a:t>Etherscan API documentation for EVM chains (Ethereum, BSC, Polygon) account transaction tracing, token events, &amp; internal transfers (docs.etherscan.io).</a:t>
            </a:r>
          </a:p>
          <a:p>
            <a:pPr>
              <a:spcAft>
                <a:spcPts val="450"/>
              </a:spcAft>
            </a:pPr>
            <a:r>
              <a:rPr b="1" sz="880">
                <a:solidFill>
                  <a:srgbClr val="2563EB"/>
                </a:solidFill>
              </a:rPr>
              <a:t>• TronGrid Protocol Specification: </a:t>
            </a:r>
            <a:r>
              <a:rPr sz="830">
                <a:solidFill>
                  <a:srgbClr val="334155"/>
                </a:solidFill>
              </a:rPr>
              <a:t>Tron Network TronGrid REST API for TRC-20 token tracking and account transaction history (developers.tron.network).</a:t>
            </a:r>
          </a:p>
          <a:p>
            <a:pPr>
              <a:spcAft>
                <a:spcPts val="450"/>
              </a:spcAft>
            </a:pPr>
            <a:r>
              <a:rPr b="1" sz="880">
                <a:solidFill>
                  <a:srgbClr val="2563EB"/>
                </a:solidFill>
              </a:rPr>
              <a:t>• Blockstream Bitcoin REST API: </a:t>
            </a:r>
            <a:r>
              <a:rPr sz="830">
                <a:solidFill>
                  <a:srgbClr val="334155"/>
                </a:solidFill>
              </a:rPr>
              <a:t>Blockstream.info public Bitcoin explorer and UTXO graph query API specification (blockstream.info/api).</a:t>
            </a:r>
          </a:p>
          <a:p>
            <a:pPr>
              <a:spcAft>
                <a:spcPts val="450"/>
              </a:spcAft>
            </a:pPr>
            <a:r>
              <a:rPr b="1" sz="880">
                <a:solidFill>
                  <a:srgbClr val="2563EB"/>
                </a:solidFill>
              </a:rPr>
              <a:t>• Vis.js Network Force-Directed Graph Engine: </a:t>
            </a:r>
            <a:r>
              <a:rPr sz="830">
                <a:solidFill>
                  <a:srgbClr val="334155"/>
                </a:solidFill>
              </a:rPr>
              <a:t>Vis.js open-source visualization library for force-directed physical graph rendering and dynamic node physics (visjs.github.io).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955279" y="1051560"/>
            <a:ext cx="3520440" cy="3886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109728" rIns="146304"/>
          <a:lstStyle/>
          <a:p>
            <a:pPr algn="ctr">
              <a:spcAft>
                <a:spcPts val="700"/>
              </a:spcAft>
              <a:defRPr b="1" sz="1050">
                <a:solidFill>
                  <a:srgbClr val="1E3A8A"/>
                </a:solidFill>
              </a:defRPr>
            </a:pPr>
            <a:r>
              <a:t>FORENSIC HEURISTICS &amp; RESEARCH</a:t>
            </a:r>
          </a:p>
          <a:p>
            <a:pPr>
              <a:spcAft>
                <a:spcPts val="450"/>
              </a:spcAft>
            </a:pPr>
            <a:r>
              <a:rPr b="1" sz="880">
                <a:solidFill>
                  <a:srgbClr val="2563EB"/>
                </a:solidFill>
              </a:rPr>
              <a:t>• Meiklejohn et al., ACM IMC (2013): </a:t>
            </a:r>
            <a:r>
              <a:rPr sz="830">
                <a:solidFill>
                  <a:srgbClr val="334155"/>
                </a:solidFill>
              </a:rPr>
              <a:t>A Fistful of Bitcoins: Characterizing Payments Among Men with No Names. Foundational paper on multi-input heuristic clustering &amp; change address detection.</a:t>
            </a:r>
          </a:p>
          <a:p>
            <a:pPr>
              <a:spcAft>
                <a:spcPts val="450"/>
              </a:spcAft>
            </a:pPr>
            <a:r>
              <a:rPr b="1" sz="880">
                <a:solidFill>
                  <a:srgbClr val="2563EB"/>
                </a:solidFill>
              </a:rPr>
              <a:t>• Friedhelm Victor, Springer (2020): </a:t>
            </a:r>
            <a:r>
              <a:rPr sz="830">
                <a:solidFill>
                  <a:srgbClr val="334155"/>
                </a:solidFill>
              </a:rPr>
              <a:t>Address Clustering Heuristics for Ethereum. Financial Cryptography &amp; Data Security. Heuristic rules for deposit address identification &amp; exchange attribution.</a:t>
            </a:r>
          </a:p>
          <a:p>
            <a:pPr>
              <a:spcAft>
                <a:spcPts val="450"/>
              </a:spcAft>
            </a:pPr>
            <a:r>
              <a:rPr b="1" sz="880">
                <a:solidFill>
                  <a:srgbClr val="2563EB"/>
                </a:solidFill>
              </a:rPr>
              <a:t>• OFAC SDN Sanctioned Entity Lists: </a:t>
            </a:r>
            <a:r>
              <a:rPr sz="830">
                <a:solidFill>
                  <a:srgbClr val="334155"/>
                </a:solidFill>
              </a:rPr>
              <a:t>U.S. Department of the Treasury, Specially Designated Nationals (SDN) cryptocurrency address blacklist &amp; Tornado Cash sanctioned smart contracts.</a:t>
            </a:r>
          </a:p>
          <a:p>
            <a:pPr>
              <a:spcAft>
                <a:spcPts val="450"/>
              </a:spcAft>
            </a:pPr>
            <a:r>
              <a:rPr b="1" sz="880">
                <a:solidFill>
                  <a:srgbClr val="2563EB"/>
                </a:solidFill>
              </a:rPr>
              <a:t>• UNODC Cybercrime Typology Manual: </a:t>
            </a:r>
            <a:r>
              <a:rPr sz="830">
                <a:solidFill>
                  <a:srgbClr val="334155"/>
                </a:solidFill>
              </a:rPr>
              <a:t>United Nations Office on Drugs and Crime, Cryptocurrency Laundering Typologies: Peel Chains, Structuring, and Nested Exchange Services.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48640" y="5074920"/>
            <a:ext cx="10927080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 rIns="164592"/>
          <a:lstStyle/>
          <a:p>
            <a:pPr algn="ctr">
              <a:spcAft>
                <a:spcPts val="300"/>
              </a:spcAft>
              <a:defRPr b="1" sz="1000">
                <a:solidFill>
                  <a:srgbClr val="0F2042"/>
                </a:solidFill>
              </a:defRPr>
            </a:pPr>
            <a:r>
              <a:t>PROJECT REPOSITORY &amp; DEMONSTRATION ACCESS</a:t>
            </a:r>
          </a:p>
          <a:p>
            <a:r>
              <a:rPr b="1" sz="900">
                <a:solidFill>
                  <a:srgbClr val="334155"/>
                </a:solidFill>
              </a:rPr>
              <a:t>GitHub Repository: </a:t>
            </a:r>
            <a:r>
              <a:rPr b="1" sz="900">
                <a:solidFill>
                  <a:srgbClr val="2563EB"/>
                </a:solidFill>
              </a:rPr>
              <a:t>https://github.com/aryan311007w-ux/SIH-codeMesh  |  </a:t>
            </a:r>
            <a:r>
              <a:rPr b="1" sz="900">
                <a:solidFill>
                  <a:srgbClr val="334155"/>
                </a:solidFill>
              </a:rPr>
              <a:t>Website: </a:t>
            </a:r>
            <a:r>
              <a:rPr sz="900">
                <a:solidFill>
                  <a:srgbClr val="64748B"/>
                </a:solidFill>
              </a:rPr>
              <a:t>To be updated after deployment  |  </a:t>
            </a:r>
            <a:r>
              <a:rPr b="1" sz="900">
                <a:solidFill>
                  <a:srgbClr val="334155"/>
                </a:solidFill>
              </a:rPr>
              <a:t>Demo Video: </a:t>
            </a:r>
            <a:r>
              <a:rPr sz="900">
                <a:solidFill>
                  <a:srgbClr val="64748B"/>
                </a:solidFill>
              </a:rPr>
              <a:t>To be updated after deployment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