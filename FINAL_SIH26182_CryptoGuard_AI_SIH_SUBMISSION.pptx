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8.jpg"/><Relationship Id="rId5" Type="http://schemas.openxmlformats.org/officeDocument/2006/relationships/image" Target="../media/image9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0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pPr>
              <a:defRPr b="1" sz="2400">
                <a:solidFill>
                  <a:srgbClr val="0F2042"/>
                </a:solidFill>
              </a:defRPr>
            </a:pPr>
            <a:r>
              <a:t>SMART INDIA HACKATHON 2026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9" name="Picture 8" descr="page_1_img_1_X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09728"/>
            <a:ext cx="2194560" cy="9601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48640" y="1371600"/>
            <a:ext cx="6766560" cy="4709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01168" rIns="256032"/>
          <a:lstStyle/>
          <a:p>
            <a:pPr algn="ctr">
              <a:spcAft>
                <a:spcPts val="600"/>
              </a:spcAft>
              <a:defRPr b="1" sz="1500">
                <a:solidFill>
                  <a:srgbClr val="2563EB"/>
                </a:solidFill>
              </a:defRPr>
            </a:pPr>
            <a:r>
              <a:t>Problem Statement ID: SIH26182</a:t>
            </a:r>
          </a:p>
          <a:p>
            <a:pPr>
              <a:defRPr b="1" sz="1050">
                <a:solidFill>
                  <a:srgbClr val="334155"/>
                </a:solidFill>
              </a:defRPr>
            </a:pPr>
            <a:r>
              <a:t>Problem Statement Title:</a:t>
            </a:r>
          </a:p>
          <a:p>
            <a:pPr>
              <a:spcAft>
                <a:spcPts val="1200"/>
              </a:spcAft>
              <a:defRPr b="1" sz="1250">
                <a:solidFill>
                  <a:srgbClr val="0F2042"/>
                </a:solidFill>
              </a:defRPr>
            </a:pPr>
            <a:r>
              <a:t>Automated Attribution of Unknown Cryptocurrency Wallets to Nearest Virtual Asset Service Providers (VASPs) through Blockchain Intelligence APIs</a:t>
            </a:r>
          </a:p>
          <a:p>
            <a:pPr>
              <a:spcAft>
                <a:spcPts val="550"/>
              </a:spcAft>
            </a:pPr>
            <a:r>
              <a:rPr b="1" sz="1150">
                <a:solidFill>
                  <a:srgbClr val="334155"/>
                </a:solidFill>
              </a:rPr>
              <a:t>Theme: </a:t>
            </a:r>
            <a:r>
              <a:rPr b="0" sz="1150">
                <a:solidFill>
                  <a:srgbClr val="0F2042"/>
                </a:solidFill>
              </a:rPr>
              <a:t>Blockchain &amp; Cybersecurity</a:t>
            </a:r>
          </a:p>
          <a:p>
            <a:pPr>
              <a:spcAft>
                <a:spcPts val="550"/>
              </a:spcAft>
            </a:pPr>
            <a:r>
              <a:rPr b="1" sz="1150">
                <a:solidFill>
                  <a:srgbClr val="334155"/>
                </a:solidFill>
              </a:rPr>
              <a:t>PS Category: </a:t>
            </a:r>
            <a:r>
              <a:rPr b="0" sz="1150">
                <a:solidFill>
                  <a:srgbClr val="0F2042"/>
                </a:solidFill>
              </a:rPr>
              <a:t>Software</a:t>
            </a:r>
          </a:p>
          <a:p>
            <a:pPr>
              <a:spcAft>
                <a:spcPts val="550"/>
              </a:spcAft>
            </a:pPr>
            <a:r>
              <a:rPr b="1" sz="1150">
                <a:solidFill>
                  <a:srgbClr val="334155"/>
                </a:solidFill>
              </a:rPr>
              <a:t>Team ID: </a:t>
            </a:r>
            <a:r>
              <a:rPr b="0" sz="1150">
                <a:solidFill>
                  <a:srgbClr val="0F2042"/>
                </a:solidFill>
              </a:rPr>
              <a:t>To be finalized on SIH Portal</a:t>
            </a:r>
          </a:p>
          <a:p>
            <a:pPr>
              <a:spcAft>
                <a:spcPts val="550"/>
              </a:spcAft>
            </a:pPr>
            <a:r>
              <a:rPr b="1" sz="1150">
                <a:solidFill>
                  <a:srgbClr val="334155"/>
                </a:solidFill>
              </a:rPr>
              <a:t>Team Name (Registered): </a:t>
            </a:r>
            <a:r>
              <a:rPr b="1" sz="1150">
                <a:solidFill>
                  <a:srgbClr val="0F2042"/>
                </a:solidFill>
              </a:rPr>
              <a:t>CodeMesh</a:t>
            </a:r>
          </a:p>
          <a:p>
            <a:pPr>
              <a:spcAft>
                <a:spcPts val="550"/>
              </a:spcAft>
            </a:pPr>
            <a:r>
              <a:rPr b="1" sz="1150">
                <a:solidFill>
                  <a:srgbClr val="334155"/>
                </a:solidFill>
              </a:rPr>
              <a:t>Project / Solution: </a:t>
            </a:r>
            <a:r>
              <a:rPr b="1" sz="1300">
                <a:solidFill>
                  <a:srgbClr val="2563EB"/>
                </a:solidFill>
              </a:rPr>
              <a:t>CryptoGuard AI</a:t>
            </a:r>
          </a:p>
          <a:p>
            <a:r>
              <a:rPr b="1" sz="900">
                <a:solidFill>
                  <a:srgbClr val="06B6D4"/>
                </a:solidFill>
              </a:rPr>
              <a:t>CORE PILLARS: Multi-Chain Tracing | 4-Factor VASP Scoring | 10-Signal AML Engine | Section 91 CrPC Notice</a:t>
            </a:r>
          </a:p>
        </p:txBody>
      </p:sp>
      <p:pic>
        <p:nvPicPr>
          <p:cNvPr id="11" name="Picture 10" descr="visual_slide1_hero_emblem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0" y="1371600"/>
            <a:ext cx="2743200" cy="27432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543800" y="4206240"/>
            <a:ext cx="4114800" cy="1874519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 rIns="182880"/>
          <a:lstStyle/>
          <a:p>
            <a:pPr algn="ctr">
              <a:spcAft>
                <a:spcPts val="400"/>
              </a:spcAft>
              <a:defRPr b="1" sz="1100">
                <a:solidFill>
                  <a:srgbClr val="0F2042"/>
                </a:solidFill>
              </a:defRPr>
            </a:pPr>
            <a:r>
              <a:t>CRYPTOGUARD AI — SOLUTION BRIEF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</a:defRPr>
            </a:pPr>
            <a:r>
              <a:t>• Primary Goal: Automatically attribute unknown crypto wallets to nearest VASPs.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</a:defRPr>
            </a:pPr>
            <a:r>
              <a:t>• Target Users: Indian LEAs, State Cyber Cells, I4C, and FIU-IND compliance units.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</a:defRPr>
            </a:pPr>
            <a:r>
              <a:t>• Regulatory Scope: PMLA 2002 Reporting Entities &amp; Section 91 CrPC requisitions.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</a:defRPr>
            </a:pPr>
            <a:r>
              <a:t>• Repository: github.com/aryan311007w-ux/SIH-codeMesh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>
              <a:defRPr b="1" sz="2000">
                <a:solidFill>
                  <a:srgbClr val="0F2042"/>
                </a:solidFill>
              </a:defRPr>
            </a:pPr>
            <a:r>
              <a:t>IDEA TITLE: CryptoGuard AI — Solution Overview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2042"/>
                </a:solidFill>
              </a:defRPr>
            </a:pPr>
            <a:r>
              <a:t>CodeMesh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Rounded Rectangle 15361"/>
          <p:cNvSpPr/>
          <p:nvPr/>
        </p:nvSpPr>
        <p:spPr>
          <a:xfrm>
            <a:off x="548640" y="1051560"/>
            <a:ext cx="4114800" cy="178308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 rIns="164592"/>
          <a:lstStyle/>
          <a:p>
            <a:pPr algn="ctr">
              <a:spcAft>
                <a:spcPts val="400"/>
              </a:spcAft>
              <a:defRPr b="1" sz="1050">
                <a:solidFill>
                  <a:srgbClr val="B91C1C"/>
                </a:solidFill>
              </a:defRPr>
            </a:pPr>
            <a:r>
              <a:t>THE FORENSIC CHALLENGE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Rapid Fund Dissipation: Stolen crypto structured across peel chains &amp; mixers in minutes.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Opaque Attribution: Lack of explainable VASP matching leads to legal dismissal.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Manual Delays: Slow notice preparation allows suspects to cashout to fiat unhindered.</a:t>
            </a:r>
          </a:p>
        </p:txBody>
      </p:sp>
      <p:sp>
        <p:nvSpPr>
          <p:cNvPr id="15363" name="Rounded Rectangle 15362"/>
          <p:cNvSpPr/>
          <p:nvPr/>
        </p:nvSpPr>
        <p:spPr>
          <a:xfrm>
            <a:off x="4846320" y="1051560"/>
            <a:ext cx="32461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rIns="109728"/>
          <a:lstStyle/>
          <a:p>
            <a:pPr algn="ctr">
              <a:spcAft>
                <a:spcPts val="150"/>
              </a:spcAft>
              <a:defRPr b="1" sz="950">
                <a:solidFill>
                  <a:srgbClr val="1E3A8A"/>
                </a:solidFill>
              </a:defRPr>
            </a:pPr>
            <a:r>
              <a:t>1. Multi-Chain Tracing</a:t>
            </a:r>
          </a:p>
          <a:p>
            <a:pPr>
              <a:defRPr sz="830">
                <a:solidFill>
                  <a:srgbClr val="334155"/>
                </a:solidFill>
              </a:defRPr>
            </a:pPr>
            <a:r>
              <a:t>Directed BFS graph walk across Ethereum, BSC, Polygon, Tron, Bitcoin.</a:t>
            </a:r>
          </a:p>
        </p:txBody>
      </p:sp>
      <p:sp>
        <p:nvSpPr>
          <p:cNvPr id="15364" name="Rounded Rectangle 15363"/>
          <p:cNvSpPr/>
          <p:nvPr/>
        </p:nvSpPr>
        <p:spPr>
          <a:xfrm>
            <a:off x="8275320" y="1051560"/>
            <a:ext cx="32461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rIns="109728"/>
          <a:lstStyle/>
          <a:p>
            <a:pPr algn="ctr">
              <a:spcAft>
                <a:spcPts val="150"/>
              </a:spcAft>
              <a:defRPr b="1" sz="950">
                <a:solidFill>
                  <a:srgbClr val="1E3A8A"/>
                </a:solidFill>
              </a:defRPr>
            </a:pPr>
            <a:r>
              <a:t>2. 4-Factor VASP Scoring</a:t>
            </a:r>
          </a:p>
          <a:p>
            <a:pPr>
              <a:defRPr sz="830">
                <a:solidFill>
                  <a:srgbClr val="334155"/>
                </a:solidFill>
              </a:defRPr>
            </a:pPr>
            <a:r>
              <a:t>Proximity 40%, Volume 30%, Recency 20%, Registry Trust 10%.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4846320" y="1993392"/>
            <a:ext cx="32461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rIns="109728"/>
          <a:lstStyle/>
          <a:p>
            <a:pPr algn="ctr">
              <a:spcAft>
                <a:spcPts val="150"/>
              </a:spcAft>
              <a:defRPr b="1" sz="950">
                <a:solidFill>
                  <a:srgbClr val="1E3A8A"/>
                </a:solidFill>
              </a:defRPr>
            </a:pPr>
            <a:r>
              <a:t>3. 10-Signal AML Engine</a:t>
            </a:r>
          </a:p>
          <a:p>
            <a:pPr>
              <a:defRPr sz="830">
                <a:solidFill>
                  <a:srgbClr val="334155"/>
                </a:solidFill>
              </a:defRPr>
            </a:pPr>
            <a:r>
              <a:t>Sanctions, mixers, peel chains, rapid exit, structuring typologies.</a:t>
            </a:r>
          </a:p>
        </p:txBody>
      </p:sp>
      <p:sp>
        <p:nvSpPr>
          <p:cNvPr id="15366" name="Rounded Rectangle 15365"/>
          <p:cNvSpPr/>
          <p:nvPr/>
        </p:nvSpPr>
        <p:spPr>
          <a:xfrm>
            <a:off x="8275320" y="1993392"/>
            <a:ext cx="32461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rIns="109728"/>
          <a:lstStyle/>
          <a:p>
            <a:pPr algn="ctr">
              <a:spcAft>
                <a:spcPts val="150"/>
              </a:spcAft>
              <a:defRPr b="1" sz="950">
                <a:solidFill>
                  <a:srgbClr val="1E3A8A"/>
                </a:solidFill>
              </a:defRPr>
            </a:pPr>
            <a:r>
              <a:t>4. Legal Response Export</a:t>
            </a:r>
          </a:p>
          <a:p>
            <a:pPr>
              <a:defRPr sz="830">
                <a:solidFill>
                  <a:srgbClr val="334155"/>
                </a:solidFill>
              </a:defRPr>
            </a:pPr>
            <a:r>
              <a:t>Section 91 CrPC notice generator, SHA-256 evidence, PDF report.</a:t>
            </a:r>
          </a:p>
        </p:txBody>
      </p:sp>
      <p:pic>
        <p:nvPicPr>
          <p:cNvPr id="15367" name="Picture 15366" descr="visual_1_investigation_flowchar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944368"/>
            <a:ext cx="10972800" cy="2907792"/>
          </a:xfrm>
          <a:prstGeom prst="rect">
            <a:avLst/>
          </a:prstGeom>
        </p:spPr>
      </p:pic>
      <p:sp>
        <p:nvSpPr>
          <p:cNvPr id="15368" name="Rounded Rectangle 15367"/>
          <p:cNvSpPr/>
          <p:nvPr/>
        </p:nvSpPr>
        <p:spPr>
          <a:xfrm>
            <a:off x="548640" y="5907024"/>
            <a:ext cx="10972800" cy="2560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800">
                <a:solidFill>
                  <a:srgbClr val="2563EB"/>
                </a:solidFill>
              </a:defRPr>
            </a:pPr>
            <a:r>
              <a:t>CORE ARCHITECTURE: UNKNOWN WALLET -&gt; NORMALIZATION -&gt; MULTI-HOP BFS GRAPH -&gt; VASP ATTRIBUTION -&gt; RISK ENGINE -&gt; SECTION 91 NOTICE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2000">
                <a:solidFill>
                  <a:srgbClr val="0F2042"/>
                </a:solidFill>
              </a:defRPr>
            </a:pPr>
            <a:r>
              <a:t>TECHNICAL APPROACH: Architecture &amp; Investigation Prototype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2042"/>
                </a:solidFill>
              </a:defRPr>
            </a:pPr>
            <a:r>
              <a:t>CodeMesh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0" name="Picture 17409" descr="visual_3_system_architectur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051560"/>
            <a:ext cx="5394960" cy="3794760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548640" y="4892040"/>
            <a:ext cx="5394960" cy="2560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800">
                <a:solidFill>
                  <a:srgbClr val="1E3A8A"/>
                </a:solidFill>
              </a:defRPr>
            </a:pPr>
            <a:r>
              <a:t>SYSTEM ARCHITECTURE: 4-Tier Forensic Stack with SQLite Persistence &amp; Configurable Integrations</a:t>
            </a:r>
          </a:p>
        </p:txBody>
      </p:sp>
      <p:pic>
        <p:nvPicPr>
          <p:cNvPr id="17412" name="Picture 17411" descr="visual_2_transaction_graph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1051560"/>
            <a:ext cx="5394960" cy="3794760"/>
          </a:xfrm>
          <a:prstGeom prst="rect">
            <a:avLst/>
          </a:prstGeom>
        </p:spPr>
      </p:pic>
      <p:sp>
        <p:nvSpPr>
          <p:cNvPr id="17413" name="Rounded Rectangle 17412"/>
          <p:cNvSpPr/>
          <p:nvPr/>
        </p:nvSpPr>
        <p:spPr>
          <a:xfrm>
            <a:off x="6126480" y="4892040"/>
            <a:ext cx="5394960" cy="2560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800">
                <a:solidFill>
                  <a:srgbClr val="047857"/>
                </a:solidFill>
              </a:defRPr>
            </a:pPr>
            <a:r>
              <a:t>PROTOTYPE GRAPH: Directed BFS Walk Traversal (1–6 Hops) with Mule Peeling &amp; VASP Attribution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548640" y="5230368"/>
            <a:ext cx="260604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rIns="109728"/>
          <a:lstStyle/>
          <a:p>
            <a:pPr algn="ctr">
              <a:spcAft>
                <a:spcPts val="200"/>
              </a:spcAft>
              <a:defRPr b="1" sz="919">
                <a:solidFill>
                  <a:srgbClr val="1E3A8A"/>
                </a:solidFill>
              </a:defRPr>
            </a:pPr>
            <a:r>
              <a:t>Frontend Engine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Vanilla HTML5 / CSS3 / ES6 JS / Vis-network v9.1.2 (100% Offline / Zero CDN)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3337560" y="5230368"/>
            <a:ext cx="260604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rIns="109728"/>
          <a:lstStyle/>
          <a:p>
            <a:pPr algn="ctr">
              <a:spcAft>
                <a:spcPts val="200"/>
              </a:spcAft>
              <a:defRPr b="1" sz="919">
                <a:solidFill>
                  <a:srgbClr val="1E3A8A"/>
                </a:solidFill>
              </a:defRPr>
            </a:pPr>
            <a:r>
              <a:t>Backend ASGI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Python 3.10+ / FastAPI v0.141 / Uvicorn ASGI Server with Pydantic validation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6126480" y="5230368"/>
            <a:ext cx="260604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rIns="109728"/>
          <a:lstStyle/>
          <a:p>
            <a:pPr algn="ctr">
              <a:spcAft>
                <a:spcPts val="200"/>
              </a:spcAft>
              <a:defRPr b="1" sz="919">
                <a:solidFill>
                  <a:srgbClr val="1E3A8A"/>
                </a:solidFill>
              </a:defRPr>
            </a:pPr>
            <a:r>
              <a:t>Forensic Store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Persistent SQLite3 (cryptoguard.db - 7 indexed relational tables)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8915400" y="5230368"/>
            <a:ext cx="260604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rIns="109728"/>
          <a:lstStyle/>
          <a:p>
            <a:pPr algn="ctr">
              <a:spcAft>
                <a:spcPts val="200"/>
              </a:spcAft>
              <a:defRPr b="1" sz="919">
                <a:solidFill>
                  <a:srgbClr val="1E3A8A"/>
                </a:solidFill>
              </a:defRPr>
            </a:pPr>
            <a:r>
              <a:t>Live Deployment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Web: https://cryptoguard-ai.onrender.com | Code: github.com/aryan311007w-ux/SIH-codeMesh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2000">
                <a:solidFill>
                  <a:srgbClr val="0F2042"/>
                </a:solidFill>
              </a:defRPr>
            </a:pPr>
            <a:r>
              <a:t>FEASIBILITY AND VIABILITY: Operational Analysis &amp; Engine Validation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2042"/>
                </a:solidFill>
              </a:defRPr>
            </a:pPr>
            <a:r>
              <a:t>CodeMesh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548640" y="1051560"/>
            <a:ext cx="3520440" cy="1965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0" rIns="146304"/>
          <a:lstStyle/>
          <a:p>
            <a:pPr algn="ctr">
              <a:spcAft>
                <a:spcPts val="400"/>
              </a:spcAft>
              <a:defRPr b="1" sz="1050">
                <a:solidFill>
                  <a:srgbClr val="B91C1C"/>
                </a:solidFill>
              </a:defRPr>
            </a:pPr>
            <a:r>
              <a:t>OPERATIONAL CHALLENGES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Rapid Fund Layering: Illicit structuring across peel chains in &lt;15 minutes.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Cross-Chain Fragmentation: Obfuscation spanning EVM, Tron, and Bitcoin.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Opaque Black Boxes: Unexplainable scores fail legal defense scrutiny in court.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Manual Paperwork: Hours lost manually drafting Section 91 notices.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270248" y="1051560"/>
            <a:ext cx="3520440" cy="1965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0" rIns="146304"/>
          <a:lstStyle/>
          <a:p>
            <a:pPr algn="ctr">
              <a:spcAft>
                <a:spcPts val="400"/>
              </a:spcAft>
              <a:defRPr b="1" sz="1050">
                <a:solidFill>
                  <a:srgbClr val="1E3A8A"/>
                </a:solidFill>
              </a:defRPr>
            </a:pPr>
            <a:r>
              <a:t>CRYPTOGUARD AI SOLUTIONS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Automated BFS Traversal: Traces multi-hop fund flows in sub-second walks.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Unified Data Schema: Normalized schema across 5 major blockchains.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Transparent 4-Factor Scoring: Mathematical confidence across 4 dimensions.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1-Click Section 91 Notices: Pre-populated with verified VASP compliance nodals.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7991856" y="1051560"/>
            <a:ext cx="3520440" cy="1965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0" rIns="146304"/>
          <a:lstStyle/>
          <a:p>
            <a:pPr algn="ctr">
              <a:spcAft>
                <a:spcPts val="400"/>
              </a:spcAft>
              <a:defRPr b="1" sz="1050">
                <a:solidFill>
                  <a:srgbClr val="047857"/>
                </a:solidFill>
              </a:defRPr>
            </a:pPr>
            <a:r>
              <a:t>FEASIBILITY &amp; SCALABILITY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Technical Feasibility: Lightweight Python/FastAPI runs on standard laptops.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Practical Implementability: Built-in Demo Mode runs 100% offline without API keys.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Production Scalability: SQLite schema is 1-to-1 portable to PostgreSQL.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Security Hardening: Architecture ready for JWT auth and role-based access control.</a:t>
            </a:r>
          </a:p>
        </p:txBody>
      </p:sp>
      <p:pic>
        <p:nvPicPr>
          <p:cNvPr id="17413" name="Picture 17412" descr="visual_4_vasp_attributio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108960"/>
            <a:ext cx="5394960" cy="2971800"/>
          </a:xfrm>
          <a:prstGeom prst="rect">
            <a:avLst/>
          </a:prstGeom>
        </p:spPr>
      </p:pic>
      <p:pic>
        <p:nvPicPr>
          <p:cNvPr id="17414" name="Picture 17413" descr="visual_5_risk_engin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3108960"/>
            <a:ext cx="5394960" cy="297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2000">
                <a:solidFill>
                  <a:srgbClr val="0F2042"/>
                </a:solidFill>
              </a:defRPr>
            </a:pPr>
            <a:r>
              <a:t>IMPACT AND BENEFITS: Stakeholder Value &amp; National Transformation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2042"/>
                </a:solidFill>
              </a:defRPr>
            </a:pPr>
            <a:r>
              <a:t>CodeMesh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548640" y="1051560"/>
            <a:ext cx="2423160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09728" rIns="128016"/>
          <a:lstStyle/>
          <a:p>
            <a:pPr algn="ctr">
              <a:spcAft>
                <a:spcPts val="500"/>
              </a:spcAft>
              <a:defRPr b="1" sz="1000">
                <a:solidFill>
                  <a:srgbClr val="1E3A8A"/>
                </a:solidFill>
              </a:defRPr>
            </a:pPr>
            <a:r>
              <a:t>FOR INVESTIGATORS &amp; LEAs</a:t>
            </a:r>
          </a:p>
          <a:p>
            <a:pPr>
              <a:spcAft>
                <a:spcPts val="400"/>
              </a:spcAft>
              <a:defRPr sz="880">
                <a:solidFill>
                  <a:srgbClr val="334155"/>
                </a:solidFill>
              </a:defRPr>
            </a:pPr>
            <a:r>
              <a:t>• Tracing in minutes vs days across complex multi-hop peel chains.</a:t>
            </a:r>
          </a:p>
          <a:p>
            <a:pPr>
              <a:spcAft>
                <a:spcPts val="400"/>
              </a:spcAft>
              <a:defRPr sz="880">
                <a:solidFill>
                  <a:srgbClr val="334155"/>
                </a:solidFill>
              </a:defRPr>
            </a:pPr>
            <a:r>
              <a:t>• Unified multi-chain view eliminates portal switching overhead.</a:t>
            </a:r>
          </a:p>
          <a:p>
            <a:pPr>
              <a:spcAft>
                <a:spcPts val="400"/>
              </a:spcAft>
              <a:defRPr sz="880">
                <a:solidFill>
                  <a:srgbClr val="334155"/>
                </a:solidFill>
              </a:defRPr>
            </a:pPr>
            <a:r>
              <a:t>• Cryptographic SHA-256 evidence maintains unblemished chain of custody.</a:t>
            </a:r>
          </a:p>
          <a:p>
            <a:pPr>
              <a:spcAft>
                <a:spcPts val="400"/>
              </a:spcAft>
              <a:defRPr sz="880">
                <a:solidFill>
                  <a:srgbClr val="334155"/>
                </a:solidFill>
              </a:defRPr>
            </a:pPr>
            <a:r>
              <a:t>• Standardized Section 91 notices ready for judicial summons.</a:t>
            </a:r>
          </a:p>
        </p:txBody>
      </p:sp>
      <p:pic>
        <p:nvPicPr>
          <p:cNvPr id="17411" name="Picture 17410" descr="visual_slide5_impact_hub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1051560"/>
            <a:ext cx="5760720" cy="3291840"/>
          </a:xfrm>
          <a:prstGeom prst="rect">
            <a:avLst/>
          </a:prstGeom>
        </p:spPr>
      </p:pic>
      <p:sp>
        <p:nvSpPr>
          <p:cNvPr id="17412" name="Rounded Rectangle 17411"/>
          <p:cNvSpPr/>
          <p:nvPr/>
        </p:nvSpPr>
        <p:spPr>
          <a:xfrm>
            <a:off x="9006840" y="1051560"/>
            <a:ext cx="2514600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09728" rIns="128016"/>
          <a:lstStyle/>
          <a:p>
            <a:pPr algn="ctr">
              <a:spcAft>
                <a:spcPts val="500"/>
              </a:spcAft>
              <a:defRPr b="1" sz="1000">
                <a:solidFill>
                  <a:srgbClr val="047857"/>
                </a:solidFill>
              </a:defRPr>
            </a:pPr>
            <a:r>
              <a:t>FOR VASPs &amp; REGULATORS</a:t>
            </a:r>
          </a:p>
          <a:p>
            <a:pPr>
              <a:spcAft>
                <a:spcPts val="400"/>
              </a:spcAft>
              <a:defRPr sz="880">
                <a:solidFill>
                  <a:srgbClr val="334155"/>
                </a:solidFill>
              </a:defRPr>
            </a:pPr>
            <a:r>
              <a:t>• Requisitions contain precise hop walks, tx hashes, &amp; timestamps.</a:t>
            </a:r>
          </a:p>
          <a:p>
            <a:pPr>
              <a:spcAft>
                <a:spcPts val="400"/>
              </a:spcAft>
              <a:defRPr sz="880">
                <a:solidFill>
                  <a:srgbClr val="334155"/>
                </a:solidFill>
              </a:defRPr>
            </a:pPr>
            <a:r>
              <a:t>• Direct identification of deposit aggregators cuts verification delays.</a:t>
            </a:r>
          </a:p>
          <a:p>
            <a:pPr>
              <a:spcAft>
                <a:spcPts val="400"/>
              </a:spcAft>
              <a:defRPr sz="880">
                <a:solidFill>
                  <a:srgbClr val="334155"/>
                </a:solidFill>
              </a:defRPr>
            </a:pPr>
            <a:r>
              <a:t>• Fulfills Prevention of Money Laundering Act (PMLA) obligations.</a:t>
            </a:r>
          </a:p>
          <a:p>
            <a:pPr>
              <a:spcAft>
                <a:spcPts val="400"/>
              </a:spcAft>
              <a:defRPr sz="880">
                <a:solidFill>
                  <a:srgbClr val="334155"/>
                </a:solidFill>
              </a:defRPr>
            </a:pPr>
            <a:r>
              <a:t>• Schema natively aligned with national cybercrime reporting portals.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548640" y="4462272"/>
            <a:ext cx="3520440" cy="8046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rIns="109728"/>
          <a:lstStyle/>
          <a:p>
            <a:pPr algn="ctr">
              <a:spcAft>
                <a:spcPts val="150"/>
              </a:spcAft>
              <a:defRPr b="1" sz="900">
                <a:solidFill>
                  <a:srgbClr val="1E3A8A"/>
                </a:solidFill>
              </a:defRPr>
            </a:pPr>
            <a:r>
              <a:t>1. Accelerated Asset Freezing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Minimizes the critical time window before illicit funds are cashed out to fiat through exchanges.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270248" y="4462272"/>
            <a:ext cx="3520440" cy="8046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rIns="109728"/>
          <a:lstStyle/>
          <a:p>
            <a:pPr algn="ctr">
              <a:spcAft>
                <a:spcPts val="150"/>
              </a:spcAft>
              <a:defRPr b="1" sz="900">
                <a:solidFill>
                  <a:srgbClr val="1E3A8A"/>
                </a:solidFill>
              </a:defRPr>
            </a:pPr>
            <a:r>
              <a:t>2. Standardized Requisitions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Replaces informal queries with statutory Section 91 CrPC notices containing full evidentiary trails.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7991856" y="4462272"/>
            <a:ext cx="3520440" cy="8046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rIns="109728"/>
          <a:lstStyle/>
          <a:p>
            <a:pPr algn="ctr">
              <a:spcAft>
                <a:spcPts val="150"/>
              </a:spcAft>
              <a:defRPr b="1" sz="900">
                <a:solidFill>
                  <a:srgbClr val="1E3A8A"/>
                </a:solidFill>
              </a:defRPr>
            </a:pPr>
            <a:r>
              <a:t>3. Cross-Chain Investigative Parity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Empowers investigators to track assets across EVM, Tron, and Bitcoin inside a single consolidated workspace.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548640" y="5358384"/>
            <a:ext cx="3520440" cy="8046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rIns="109728"/>
          <a:lstStyle/>
          <a:p>
            <a:pPr algn="ctr">
              <a:spcAft>
                <a:spcPts val="150"/>
              </a:spcAft>
              <a:defRPr b="1" sz="900">
                <a:solidFill>
                  <a:srgbClr val="1E3A8A"/>
                </a:solidFill>
              </a:defRPr>
            </a:pPr>
            <a:r>
              <a:t>4. Institutional Evidentiary Memory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Persistent SQLite storage guarantees repeatable, verifiable re-analysis and audit trails for cold cyber cases.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4270248" y="5358384"/>
            <a:ext cx="3520440" cy="8046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rIns="109728"/>
          <a:lstStyle/>
          <a:p>
            <a:pPr algn="ctr">
              <a:spcAft>
                <a:spcPts val="150"/>
              </a:spcAft>
              <a:defRPr b="1" sz="900">
                <a:solidFill>
                  <a:srgbClr val="1E3A8A"/>
                </a:solidFill>
              </a:defRPr>
            </a:pPr>
            <a:r>
              <a:t>5. Low-Cost Station Deployment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Zero heavy ML dependency allows rapid deployment across district cybercrime police stations without server clusters.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7991856" y="5358384"/>
            <a:ext cx="3520440" cy="8046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rIns="109728"/>
          <a:lstStyle/>
          <a:p>
            <a:pPr algn="ctr">
              <a:spcAft>
                <a:spcPts val="150"/>
              </a:spcAft>
              <a:defRPr b="1" sz="900">
                <a:solidFill>
                  <a:srgbClr val="1E3A8A"/>
                </a:solidFill>
              </a:defRPr>
            </a:pPr>
            <a:r>
              <a:t>6. National Integration-Ready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Native data schemas aligned with the Indian Cybercrime Coordination Centre (I4C) and SAHYOG portal.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2000">
                <a:solidFill>
                  <a:srgbClr val="0F2042"/>
                </a:solidFill>
              </a:defRPr>
            </a:pPr>
            <a:r>
              <a:t>RESEARCH AND REFERENCES: Regulatory, Protocol &amp; Academic Foundations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2042"/>
                </a:solidFill>
              </a:defRPr>
            </a:pPr>
            <a:r>
              <a:t>CodeMesh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548640" y="1051560"/>
            <a:ext cx="3520440" cy="3383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0" rIns="146304"/>
          <a:lstStyle/>
          <a:p>
            <a:pPr algn="ctr">
              <a:spcAft>
                <a:spcPts val="600"/>
              </a:spcAft>
              <a:defRPr b="1" sz="1000">
                <a:solidFill>
                  <a:srgbClr val="1E3A8A"/>
                </a:solidFill>
              </a:defRPr>
            </a:pPr>
            <a:r>
              <a:t>STATUTORY &amp; REGULATORY FRAMEWORKS</a:t>
            </a:r>
          </a:p>
          <a:p>
            <a:pPr>
              <a:spcAft>
                <a:spcPts val="400"/>
              </a:spcAft>
            </a:pPr>
            <a:r>
              <a:rPr b="1" sz="880">
                <a:solidFill>
                  <a:srgbClr val="2563EB"/>
                </a:solidFill>
              </a:rPr>
              <a:t>• FATF Virtual Assets Guidance (2021/2023): </a:t>
            </a:r>
            <a:r>
              <a:rPr sz="819">
                <a:solidFill>
                  <a:srgbClr val="334155"/>
                </a:solidFill>
              </a:rPr>
              <a:t>Financial Action Task Force, Updated Guidance for a Risk-Based Approach to Virtual Assets and VASPs, Recommendation 15 &amp; 16 (Travel Rule).</a:t>
            </a:r>
          </a:p>
          <a:p>
            <a:pPr>
              <a:spcAft>
                <a:spcPts val="400"/>
              </a:spcAft>
            </a:pPr>
            <a:r>
              <a:rPr b="1" sz="880">
                <a:solidFill>
                  <a:srgbClr val="2563EB"/>
                </a:solidFill>
              </a:rPr>
              <a:t>• FIU-IND AML/CFT Guidelines (2023): </a:t>
            </a:r>
            <a:r>
              <a:rPr sz="819">
                <a:solidFill>
                  <a:srgbClr val="334155"/>
                </a:solidFill>
              </a:rPr>
              <a:t>Financial Intelligence Unit - India, Anti-Money Laundering &amp; Countering Financing of Terrorism Guidelines for Virtual Digital Asset Service Providers (PMLA compliance).</a:t>
            </a:r>
          </a:p>
          <a:p>
            <a:pPr>
              <a:spcAft>
                <a:spcPts val="400"/>
              </a:spcAft>
            </a:pPr>
            <a:r>
              <a:rPr b="1" sz="880">
                <a:solidFill>
                  <a:srgbClr val="2563EB"/>
                </a:solidFill>
              </a:rPr>
              <a:t>• Section 91 CrPC / Section 94 BNSS: </a:t>
            </a:r>
            <a:r>
              <a:rPr sz="819">
                <a:solidFill>
                  <a:srgbClr val="334155"/>
                </a:solidFill>
              </a:rPr>
              <a:t>Code of Criminal Procedure, 1973 (Section 91) &amp; Bharatiya Nagarik Suraksha Sanhita, 2023 (Section 94) — Legal summons for digital evidence.</a:t>
            </a:r>
          </a:p>
          <a:p>
            <a:pPr>
              <a:spcAft>
                <a:spcPts val="400"/>
              </a:spcAft>
            </a:pPr>
            <a:r>
              <a:rPr b="1" sz="880">
                <a:solidFill>
                  <a:srgbClr val="2563EB"/>
                </a:solidFill>
              </a:rPr>
              <a:t>• Prevention of Money Laundering Act (2002): </a:t>
            </a:r>
            <a:r>
              <a:rPr sz="819">
                <a:solidFill>
                  <a:srgbClr val="334155"/>
                </a:solidFill>
              </a:rPr>
              <a:t>PMLA 2002 Section 12 — Maintenance of records, identification of clients, &amp; furnished information by crypto Reporting Entities.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251960" y="1051560"/>
            <a:ext cx="3520440" cy="3383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0" rIns="146304"/>
          <a:lstStyle/>
          <a:p>
            <a:pPr algn="ctr">
              <a:spcAft>
                <a:spcPts val="600"/>
              </a:spcAft>
              <a:defRPr b="1" sz="1000">
                <a:solidFill>
                  <a:srgbClr val="1E3A8A"/>
                </a:solidFill>
              </a:defRPr>
            </a:pPr>
            <a:r>
              <a:t>BLOCKCHAIN APIS &amp; FORENSIC PROTOCOLS</a:t>
            </a:r>
          </a:p>
          <a:p>
            <a:pPr>
              <a:spcAft>
                <a:spcPts val="400"/>
              </a:spcAft>
            </a:pPr>
            <a:r>
              <a:rPr b="1" sz="880">
                <a:solidFill>
                  <a:srgbClr val="2563EB"/>
                </a:solidFill>
              </a:rPr>
              <a:t>• Etherscan V2 API Developer Protocol: </a:t>
            </a:r>
            <a:r>
              <a:rPr sz="819">
                <a:solidFill>
                  <a:srgbClr val="334155"/>
                </a:solidFill>
              </a:rPr>
              <a:t>Etherscan API documentation for EVM chains (Ethereum, BSC, Polygon) account transaction tracing, token events, &amp; internal transfers (docs.etherscan.io).</a:t>
            </a:r>
          </a:p>
          <a:p>
            <a:pPr>
              <a:spcAft>
                <a:spcPts val="400"/>
              </a:spcAft>
            </a:pPr>
            <a:r>
              <a:rPr b="1" sz="880">
                <a:solidFill>
                  <a:srgbClr val="2563EB"/>
                </a:solidFill>
              </a:rPr>
              <a:t>• TronGrid Protocol Specification: </a:t>
            </a:r>
            <a:r>
              <a:rPr sz="819">
                <a:solidFill>
                  <a:srgbClr val="334155"/>
                </a:solidFill>
              </a:rPr>
              <a:t>Tron Network TronGrid REST API for TRC-20 token tracking and account transaction history (developers.tron.network).</a:t>
            </a:r>
          </a:p>
          <a:p>
            <a:pPr>
              <a:spcAft>
                <a:spcPts val="400"/>
              </a:spcAft>
            </a:pPr>
            <a:r>
              <a:rPr b="1" sz="880">
                <a:solidFill>
                  <a:srgbClr val="2563EB"/>
                </a:solidFill>
              </a:rPr>
              <a:t>• Blockstream Bitcoin REST API: </a:t>
            </a:r>
            <a:r>
              <a:rPr sz="819">
                <a:solidFill>
                  <a:srgbClr val="334155"/>
                </a:solidFill>
              </a:rPr>
              <a:t>Blockstream.info public Bitcoin explorer and UTXO graph query API specification (blockstream.info/api).</a:t>
            </a:r>
          </a:p>
          <a:p>
            <a:pPr>
              <a:spcAft>
                <a:spcPts val="400"/>
              </a:spcAft>
            </a:pPr>
            <a:r>
              <a:rPr b="1" sz="880">
                <a:solidFill>
                  <a:srgbClr val="2563EB"/>
                </a:solidFill>
              </a:rPr>
              <a:t>• Vis.js Network Force-Directed Graph Engine: </a:t>
            </a:r>
            <a:r>
              <a:rPr sz="819">
                <a:solidFill>
                  <a:srgbClr val="334155"/>
                </a:solidFill>
              </a:rPr>
              <a:t>Vis.js open-source visualization library for force-directed physical graph rendering and dynamic node physics (visjs.github.io).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7955279" y="1051560"/>
            <a:ext cx="3520440" cy="3383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0" rIns="146304"/>
          <a:lstStyle/>
          <a:p>
            <a:pPr algn="ctr">
              <a:spcAft>
                <a:spcPts val="600"/>
              </a:spcAft>
              <a:defRPr b="1" sz="1000">
                <a:solidFill>
                  <a:srgbClr val="1E3A8A"/>
                </a:solidFill>
              </a:defRPr>
            </a:pPr>
            <a:r>
              <a:t>FORENSIC HEURISTICS &amp; RESEARCH</a:t>
            </a:r>
          </a:p>
          <a:p>
            <a:pPr>
              <a:spcAft>
                <a:spcPts val="400"/>
              </a:spcAft>
            </a:pPr>
            <a:r>
              <a:rPr b="1" sz="880">
                <a:solidFill>
                  <a:srgbClr val="2563EB"/>
                </a:solidFill>
              </a:rPr>
              <a:t>• Meiklejohn et al., ACM IMC (2013): </a:t>
            </a:r>
            <a:r>
              <a:rPr sz="819">
                <a:solidFill>
                  <a:srgbClr val="334155"/>
                </a:solidFill>
              </a:rPr>
              <a:t>A Fistful of Bitcoins: Characterizing Payments Among Men with No Names. Foundational paper on multi-input heuristic clustering &amp; change address detection.</a:t>
            </a:r>
          </a:p>
          <a:p>
            <a:pPr>
              <a:spcAft>
                <a:spcPts val="400"/>
              </a:spcAft>
            </a:pPr>
            <a:r>
              <a:rPr b="1" sz="880">
                <a:solidFill>
                  <a:srgbClr val="2563EB"/>
                </a:solidFill>
              </a:rPr>
              <a:t>• Friedhelm Victor, Springer (2020): </a:t>
            </a:r>
            <a:r>
              <a:rPr sz="819">
                <a:solidFill>
                  <a:srgbClr val="334155"/>
                </a:solidFill>
              </a:rPr>
              <a:t>Address Clustering Heuristics for Ethereum. Financial Cryptography &amp; Data Security. Heuristic rules for deposit address identification &amp; exchange attribution.</a:t>
            </a:r>
          </a:p>
          <a:p>
            <a:pPr>
              <a:spcAft>
                <a:spcPts val="400"/>
              </a:spcAft>
            </a:pPr>
            <a:r>
              <a:rPr b="1" sz="880">
                <a:solidFill>
                  <a:srgbClr val="2563EB"/>
                </a:solidFill>
              </a:rPr>
              <a:t>• OFAC SDN Sanctioned Entity Lists: </a:t>
            </a:r>
            <a:r>
              <a:rPr sz="819">
                <a:solidFill>
                  <a:srgbClr val="334155"/>
                </a:solidFill>
              </a:rPr>
              <a:t>U.S. Department of the Treasury, Specially Designated Nationals (SDN) cryptocurrency address blacklist &amp; Tornado Cash sanctioned smart contracts.</a:t>
            </a:r>
          </a:p>
          <a:p>
            <a:pPr>
              <a:spcAft>
                <a:spcPts val="400"/>
              </a:spcAft>
            </a:pPr>
            <a:r>
              <a:rPr b="1" sz="880">
                <a:solidFill>
                  <a:srgbClr val="2563EB"/>
                </a:solidFill>
              </a:rPr>
              <a:t>• UNODC Cybercrime Typology Manual: </a:t>
            </a:r>
            <a:r>
              <a:rPr sz="819">
                <a:solidFill>
                  <a:srgbClr val="334155"/>
                </a:solidFill>
              </a:rPr>
              <a:t>United Nations Office on Drugs and Crime, Cryptocurrency Laundering Typologies: Peel Chains, Structuring, and Nested Exchange Services.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548640" y="4553712"/>
            <a:ext cx="10927080" cy="93268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 rIns="164592"/>
          <a:lstStyle/>
          <a:p>
            <a:pPr algn="ctr">
              <a:spcAft>
                <a:spcPts val="300"/>
              </a:spcAft>
              <a:defRPr b="1" sz="950">
                <a:solidFill>
                  <a:srgbClr val="0F2042"/>
                </a:solidFill>
              </a:defRPr>
            </a:pPr>
            <a:r>
              <a:t>DEPLOYMENT MATURITY: CURRENT MVP -&gt; ENTERPRISE SCALE ROADMAP</a:t>
            </a:r>
          </a:p>
          <a:p>
            <a:r>
              <a:rPr b="1" sz="850">
                <a:solidFill>
                  <a:srgbClr val="1E3A8A"/>
                </a:solidFill>
              </a:rPr>
              <a:t>[Current Tested MVP] </a:t>
            </a:r>
            <a:r>
              <a:rPr sz="819">
                <a:solidFill>
                  <a:srgbClr val="334155"/>
                </a:solidFill>
              </a:rPr>
              <a:t>Offline Vis.js UI + FastAPI + SQLite + 4-Factor VASP Scoring + Section 91 CrPC Notice + Deterministic Demo Dataset.  </a:t>
            </a:r>
          </a:p>
          <a:p>
            <a:r>
              <a:rPr b="1" sz="850">
                <a:solidFill>
                  <a:srgbClr val="1E3A8A"/>
                </a:solidFill>
              </a:rPr>
              <a:t>[Near-Term Scale] </a:t>
            </a:r>
            <a:r>
              <a:rPr sz="819">
                <a:solidFill>
                  <a:srgbClr val="334155"/>
                </a:solidFill>
              </a:rPr>
              <a:t>PostgreSQL migration + multi-tenant police station hierarchy + JWT/RBAC authentication hardening.  </a:t>
            </a:r>
          </a:p>
          <a:p>
            <a:r>
              <a:rPr b="1" sz="850">
                <a:solidFill>
                  <a:srgbClr val="1E3A8A"/>
                </a:solidFill>
              </a:rPr>
              <a:t>[Institutional Production] </a:t>
            </a:r>
            <a:r>
              <a:rPr sz="819">
                <a:solidFill>
                  <a:srgbClr val="334155"/>
                </a:solidFill>
              </a:rPr>
              <a:t>Direct secure webhook integration with Indian Cybercrime Coordination Centre (I4C) &amp; national SAHYOG portal.  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548640" y="5596128"/>
            <a:ext cx="1092708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 rIns="164592"/>
          <a:lstStyle/>
          <a:p>
            <a:pPr algn="ctr"/>
            <a:r>
              <a:rPr b="1" sz="900">
                <a:solidFill>
                  <a:srgbClr val="334155"/>
                </a:solidFill>
              </a:rPr>
              <a:t>OFFICIAL REPOSITORY: </a:t>
            </a:r>
            <a:r>
              <a:rPr b="1" sz="900">
                <a:solidFill>
                  <a:srgbClr val="2563EB"/>
                </a:solidFill>
              </a:rPr>
              <a:t>https://github.com/aryan311007w-ux/SIH-codeMesh   |   </a:t>
            </a:r>
            <a:r>
              <a:rPr b="1" sz="900">
                <a:solidFill>
                  <a:srgbClr val="334155"/>
                </a:solidFill>
              </a:rPr>
              <a:t>WEBSITE: </a:t>
            </a:r>
            <a:r>
              <a:rPr b="1" sz="900">
                <a:solidFill>
                  <a:srgbClr val="2563EB"/>
                </a:solidFill>
              </a:rPr>
              <a:t>https://cryptoguard-ai.onrender.com   |   </a:t>
            </a:r>
            <a:r>
              <a:rPr b="1" sz="900">
                <a:solidFill>
                  <a:srgbClr val="334155"/>
                </a:solidFill>
              </a:rPr>
              <a:t>DEMO VIDEO: </a:t>
            </a:r>
            <a:r>
              <a:rPr sz="900">
                <a:solidFill>
                  <a:srgbClr val="64748B"/>
                </a:solidFill>
              </a:rPr>
              <a:t>To be updated after deployment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