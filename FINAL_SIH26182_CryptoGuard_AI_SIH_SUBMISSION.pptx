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IH26182_TITL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 — Solution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4114800" cy="17830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THE FORENSIC CHALLENGE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Dissipation: Stolen crypto structured across peel chains &amp; mixers in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Attribution: Lack of explainable VASP matching leads to legal dismissal.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Delays: Slow notice preparation allows suspects to cashout to fiat unhindered.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846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1. Multi-Chain Tracing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Directed BFS graph walk across Ethereum, BSC, Polygon, Tron, Bitcoin.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275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2. 4-Factor VASP Scoring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Proximity 40%, Volume 30%, Recency 20%, Registry Trust 10%.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846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3. 10-Signal AML Engine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Sanctions, mixers, peel chains, rapid exit, structuring typologies.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8275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4. Legal Response Export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Section 91 CrPC notice generator, SHA-256 evidence, PDF report.</a:t>
            </a:r>
          </a:p>
        </p:txBody>
      </p:sp>
      <p:pic>
        <p:nvPicPr>
          <p:cNvPr id="15367" name="Picture 15366" descr="visual_1_investigation_flow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44368"/>
            <a:ext cx="10972800" cy="2907792"/>
          </a:xfrm>
          <a:prstGeom prst="rect">
            <a:avLst/>
          </a:prstGeom>
        </p:spPr>
      </p:pic>
      <p:sp>
        <p:nvSpPr>
          <p:cNvPr id="15368" name="Rounded Rectangle 15367"/>
          <p:cNvSpPr/>
          <p:nvPr/>
        </p:nvSpPr>
        <p:spPr>
          <a:xfrm>
            <a:off x="548640" y="5907024"/>
            <a:ext cx="1097280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CORE ARCHITECTURE: UNKNOWN WALLET -&gt; NORMALIZATION -&gt; MULTI-HOP BFS GRAPH -&gt; VASP ATTRIBUTION -&gt; RISK ENGINE -&gt; SECTION 91 NOTICE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Architecture &amp; Investigation 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visual_3_system_archite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394960" cy="379476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4892040"/>
            <a:ext cx="539496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SYSTEM ARCHITECTURE: 4-Tier Forensic Stack with SQLite Persistence &amp; Configurable Integrations</a:t>
            </a:r>
          </a:p>
        </p:txBody>
      </p:sp>
      <p:pic>
        <p:nvPicPr>
          <p:cNvPr id="17412" name="Picture 17411" descr="visual_2_transaction_grap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51560"/>
            <a:ext cx="5394960" cy="3794760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26480" y="4892040"/>
            <a:ext cx="539496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PROTOTYPE GRAPH: Directed BFS Walk Traversal (1–6 Hops) with Mule Peeling &amp; VASP Attribution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Frontend Engine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Vanilla HTML5 / CSS3 / ES6 JS / Vis-network v9.1.2 (100% Offline / Zero CDN)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Backend ASGI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Python 3.10+ / FastAPI v0.141 / Uvicorn ASGI Server with Pydantic validation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2648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Forensic Store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SQLite3 (cryptoguard.db - 7 indexed relational tables)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1540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Live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Web: https://tubes-intersection-judicial-weapon.trycloudflare.com | Code: github.com/aryan311007w-ux/SIH-codeMesh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Operational Analysis &amp; Engine Validation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Layering: Illicit structuring across peel chains in &lt;15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Cross-Chain Fragmentation: Obfuscation spanning EVM, Tron, and Bitcoin.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Black Boxes: Unexplainable scores fail legal defense scrutiny in court.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Paperwork: Hours lost manually drafting Section 91 notices.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70248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CRYPTOGUARD AI SOLUTIONS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BFS Traversal: Traces multi-hop fund flows in sub-second walks.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Data Schema: Normalized schema across 5 major blockchains.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4-Factor Scoring: Mathematical confidence across 4 dimensions.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1-Click Section 91 Notices: Pre-populated with verified VASP compliance nodals.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91856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047857"/>
                </a:solidFill>
              </a:defRPr>
            </a:pPr>
            <a:r>
              <a:t>FEASIBILITY &amp; SCALABILITY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Technical Feasibility: Lightweight Python/FastAPI runs on standard laptops.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Practical Implementability: Built-in Demo Mode runs 100% offline without API keys.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Production Scalability: SQLite schema is 1-to-1 portable to PostgreSQL.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Security Hardening: Architecture ready for JWT auth and role-based access control.</a:t>
            </a:r>
          </a:p>
        </p:txBody>
      </p:sp>
      <p:pic>
        <p:nvPicPr>
          <p:cNvPr id="17413" name="Picture 17412" descr="visual_4_vasp_attribu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08960"/>
            <a:ext cx="5394960" cy="2971800"/>
          </a:xfrm>
          <a:prstGeom prst="rect">
            <a:avLst/>
          </a:prstGeom>
        </p:spPr>
      </p:pic>
      <p:pic>
        <p:nvPicPr>
          <p:cNvPr id="17414" name="Picture 17413" descr="visual_5_risk_engi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108960"/>
            <a:ext cx="539496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National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42316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FOR INVESTIGATORS &amp; LEAs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Tracing in minutes vs days across complex multi-hop peel chains.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Unified multi-chain view eliminates portal switching overhead.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Cryptographic SHA-256 evidence maintains unblemished chain of custody.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Standardized Section 91 notices ready for judicial summons.</a:t>
            </a:r>
          </a:p>
        </p:txBody>
      </p:sp>
      <p:pic>
        <p:nvPicPr>
          <p:cNvPr id="17411" name="Picture 17410" descr="visual_slide5_impact_hu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051560"/>
            <a:ext cx="5760720" cy="329184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9006840" y="1051560"/>
            <a:ext cx="251460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047857"/>
                </a:solidFill>
              </a:defRPr>
            </a:pPr>
            <a:r>
              <a:t>FOR VASPs &amp; REGULATORS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Requisitions contain precise hop walks, tx hashes, &amp; timestamps.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verification delays.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(PMLA) obligations.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Schema natively aligned with national cybercrime reporting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exchanges.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2. Standardized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informal queries with statutory Section 91 CrPC notices containing full evidentiary trails.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991856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48640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70248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991856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19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19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19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19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19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19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19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19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19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19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19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19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553712"/>
            <a:ext cx="10927080" cy="93268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300"/>
              </a:spcAft>
              <a:defRPr b="1" sz="950">
                <a:solidFill>
                  <a:srgbClr val="0F2042"/>
                </a:solidFill>
              </a:defRPr>
            </a:pPr>
            <a:r>
              <a:t>DEPLOYMENT MATURITY: CURRENT MVP -&gt; ENTERPRISE SCALE ROADMAP</a:t>
            </a:r>
          </a:p>
          <a:p>
            <a:r>
              <a:rPr b="1" sz="850">
                <a:solidFill>
                  <a:srgbClr val="1E3A8A"/>
                </a:solidFill>
              </a:rPr>
              <a:t>[Current Tested MVP] </a:t>
            </a:r>
            <a:r>
              <a:rPr sz="819">
                <a:solidFill>
                  <a:srgbClr val="334155"/>
                </a:solidFill>
              </a:rPr>
              <a:t>Offline Vis.js UI + FastAPI + SQLite + 4-Factor VASP Scoring + Section 91 CrPC Notice + Deterministic Demo Dataset.  </a:t>
            </a:r>
          </a:p>
          <a:p>
            <a:r>
              <a:rPr b="1" sz="850">
                <a:solidFill>
                  <a:srgbClr val="1E3A8A"/>
                </a:solidFill>
              </a:rPr>
              <a:t>[Near-Term Scale] </a:t>
            </a:r>
            <a:r>
              <a:rPr sz="819">
                <a:solidFill>
                  <a:srgbClr val="334155"/>
                </a:solidFill>
              </a:rPr>
              <a:t>PostgreSQL migration + multi-tenant police station hierarchy + JWT/RBAC authentication hardening.  </a:t>
            </a:r>
          </a:p>
          <a:p>
            <a:r>
              <a:rPr b="1" sz="850">
                <a:solidFill>
                  <a:srgbClr val="1E3A8A"/>
                </a:solidFill>
              </a:rPr>
              <a:t>[Institutional Production] </a:t>
            </a:r>
            <a:r>
              <a:rPr sz="819">
                <a:solidFill>
                  <a:srgbClr val="334155"/>
                </a:solidFill>
              </a:rPr>
              <a:t>Direct secure webhook integration with Indian Cybercrime Coordination Centre (I4C) &amp; national SAHYOG portal.  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596128"/>
            <a:ext cx="109270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/>
            <a:r>
              <a:rPr b="1" sz="900">
                <a:solidFill>
                  <a:srgbClr val="334155"/>
                </a:solidFill>
              </a:rPr>
              <a:t>OFFICIAL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 | 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https://tubes-intersection-judicial-weapon.trycloudflare.com   | 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